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Toplam Tutar</c:v>
                </c:pt>
              </c:strCache>
            </c:strRef>
          </c:tx>
          <c:spPr>
            <a:solidFill>
              <a:srgbClr val="0E93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2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HAVALE</c:v>
                  </c:pt>
                  <c:pt idx="1">
                    <c:v>EFT</c:v>
                  </c:pt>
                  <c:pt idx="2">
                    <c:v>ATM</c:v>
                  </c:pt>
                  <c:pt idx="3">
                    <c:v>POS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128000</c:v>
                </c:pt>
                <c:pt idx="1">
                  <c:v>75450</c:v>
                </c:pt>
                <c:pt idx="2">
                  <c:v>90500</c:v>
                </c:pt>
                <c:pt idx="3">
                  <c:v>3650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2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822960"/>
            <a:ext cx="3108960" cy="3108960"/>
          </a:xfrm>
          <a:prstGeom prst="roundRect">
            <a:avLst>
              <a:gd name="adj" fmla="val 8824"/>
            </a:avLst>
          </a:prstGeom>
          <a:solidFill>
            <a:srgbClr val="0F2E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937760"/>
            <a:ext cx="2377440" cy="2377440"/>
          </a:xfrm>
          <a:prstGeom prst="roundRect">
            <a:avLst>
              <a:gd name="adj" fmla="val 9615"/>
            </a:avLst>
          </a:prstGeom>
          <a:solidFill>
            <a:srgbClr val="0F2E4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0E938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556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97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GELİŞMİŞ VERİ TABANI UYGULAMALARI  ·  DÖNEM SONU PROJE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971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FintechDB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Sektörü için Uçtan Uca Veritabanı Sistemi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 ·  </a:t>
            </a:r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SQL  ·  </a:t>
            </a:r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Ambarı  ·  </a:t>
            </a:r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55778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 Karaman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2303022018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023360" y="55778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Metehan Şener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2303022052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69480" y="5577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 Nur Karabulut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2503022072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Beykent Üniversitesi  ·  Bilgisayar Mühendisliği  ·  Haziran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İŞ SENARYOSU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Modellediğimiz Bankacılık Süreci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574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B223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22199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231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04672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04672" y="3337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TCKN benzersizliği ve e-posta doğrulaması ile kayıt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090672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3337560" y="178308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93592" y="20574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B223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2221992"/>
            <a:ext cx="448056" cy="4480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3593592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&amp; İşlem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593592" y="3337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Vadesiz / vadeli / kredi hesapları; HAVALE, EFT, ATM, POS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879592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6126480" y="178308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82512" y="20574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B223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221992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010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6382512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 Başvurusu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382512" y="3337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 → değerlendirme → sonuçlandırma akışı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668512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7" name="Shape 21"/>
          <p:cNvSpPr/>
          <p:nvPr/>
        </p:nvSpPr>
        <p:spPr>
          <a:xfrm>
            <a:off x="8915400" y="178308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171432" y="20574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B2239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2221992"/>
            <a:ext cx="448056" cy="4480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7899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31" name="Text 24"/>
          <p:cNvSpPr/>
          <p:nvPr/>
        </p:nvSpPr>
        <p:spPr>
          <a:xfrm>
            <a:off x="9171432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Tespiti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9171432" y="3337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&gt;50.000 ₺ işlemler otomatik şüpheli işaretlenir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48640" y="443484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0B2239"/>
          </a:solidFill>
          <a:ln/>
        </p:spPr>
      </p:sp>
      <p:sp>
        <p:nvSpPr>
          <p:cNvPr id="34" name="Text 27"/>
          <p:cNvSpPr/>
          <p:nvPr/>
        </p:nvSpPr>
        <p:spPr>
          <a:xfrm>
            <a:off x="91440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Fintech?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914400" y="50292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iş kuralları içeren, en az 5 tablo gerektiren karmaşık bir senaryo.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tutarlı işlem riski, kredi değerlendirme ve para transferi gibi süreçler;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güvenliği, yetkilendirme ve veri ambarı katmanlarını doğal biçimde gerektirir.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GENEL BAKIŞ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Dört Katmanlı Sistem Mimarisi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7223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37360"/>
            <a:ext cx="91440" cy="91440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9568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938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0574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5623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Katmanı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17320" y="221284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ilişkisel tablo · PK/FK · 3NF · kısıtlar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761488"/>
            <a:ext cx="7223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2761488"/>
            <a:ext cx="9144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298094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08152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8803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SQL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417320" y="323697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Stored Procedure · Trigger · Index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785616"/>
            <a:ext cx="7223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3785616"/>
            <a:ext cx="9144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0050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10565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0448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&amp; Hareket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417320" y="426110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transaction'lar · roller · GRANT/REVOKE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809744"/>
            <a:ext cx="7223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4809744"/>
            <a:ext cx="91440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Shape 20"/>
          <p:cNvSpPr/>
          <p:nvPr/>
        </p:nvSpPr>
        <p:spPr>
          <a:xfrm>
            <a:off x="777240" y="502920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B4530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12978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492861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Ambarı + ML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1417320" y="528523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Yıldız şema · OLAP · Logistic Regression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046720" y="1737360"/>
            <a:ext cx="3593592" cy="4078224"/>
          </a:xfrm>
          <a:prstGeom prst="roundRect">
            <a:avLst>
              <a:gd name="adj" fmla="val 2545"/>
            </a:avLst>
          </a:prstGeom>
          <a:solidFill>
            <a:srgbClr val="0B2239"/>
          </a:solidFill>
          <a:ln/>
        </p:spPr>
      </p:sp>
      <p:sp>
        <p:nvSpPr>
          <p:cNvPr id="31" name="Text 24"/>
          <p:cNvSpPr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Rakamlarla Proje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8321040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33" name="Text 26"/>
          <p:cNvSpPr/>
          <p:nvPr/>
        </p:nvSpPr>
        <p:spPr>
          <a:xfrm>
            <a:off x="9189720" y="25328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ilişkisel tablo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8321040" y="30815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35" name="Text 28"/>
          <p:cNvSpPr/>
          <p:nvPr/>
        </p:nvSpPr>
        <p:spPr>
          <a:xfrm>
            <a:off x="9189720" y="3191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2 SP · 2 Trigger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321040" y="373989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37" name="Text 30"/>
          <p:cNvSpPr/>
          <p:nvPr/>
        </p:nvSpPr>
        <p:spPr>
          <a:xfrm>
            <a:off x="9189720" y="38496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senaryosu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8321040" y="439826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39" name="Text 32"/>
          <p:cNvSpPr/>
          <p:nvPr/>
        </p:nvSpPr>
        <p:spPr>
          <a:xfrm>
            <a:off x="9189720" y="4507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· GRANT/REVOKE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8321040" y="50566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41" name="Text 34"/>
          <p:cNvSpPr/>
          <p:nvPr/>
        </p:nvSpPr>
        <p:spPr>
          <a:xfrm>
            <a:off x="9189720" y="5166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yıldız şema + ML modeli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VERİ MODELİ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Diyagramı ve İlişkiler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8138160" cy="4232841"/>
          </a:xfrm>
          <a:prstGeom prst="roundRect">
            <a:avLst>
              <a:gd name="adj" fmla="val 12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1" descr="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7955280" cy="404996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732520" y="1600200"/>
            <a:ext cx="2907792" cy="443484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96112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İlişki Türleri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0" y="224028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→ Hesap  (1:N)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→ İşlem  (1:N)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→ Kredi_Başvuru  (1:N)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→ Kredi_Skoru  (1:N)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→ Fraud_Log  (1:1)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 → ML_Sonuç  (1:N)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961120" y="489204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tablo INT IDENTITY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birincil anahtar taşır; tüm ilişkiler FK ile zorlanır.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TASARIM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Normalizasyon — 3NF'e Ulaşım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47872" cy="246888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57400"/>
            <a:ext cx="1051560" cy="54864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05740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1NF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Atomik değerler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ve Soyad ayrı sütunlarda; hesaplar Müşteri satırına yığılmaz, ayrı Hesap tablosunda tutulur.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70248" y="1783080"/>
            <a:ext cx="3547872" cy="246888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057400"/>
            <a:ext cx="1051560" cy="54864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3" name="Text 10"/>
          <p:cNvSpPr/>
          <p:nvPr/>
        </p:nvSpPr>
        <p:spPr>
          <a:xfrm>
            <a:off x="4544568" y="205740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2NF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44568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fonksiyonel bağımlılık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44568" y="32461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PK'lar tek sütunlu (MusteriID, HesapID...) olduğundan kısmi bağımlılık oluşmaz.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91856" y="1783080"/>
            <a:ext cx="3547872" cy="246888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66176" y="2057400"/>
            <a:ext cx="1051560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8266176" y="205740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3NF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266176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Geçişli bağımlılık yok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66176" y="32461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TCKN benzersiz ama PK değil; Ad/Email doğrudan MusteriID'ye bağlıdır, TCKN üzerinden değil.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52628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0B2239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80060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FraudFlag dikkatli incelendi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463040" y="5166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 &gt; 50.000 ₺ kuralı tabloya gömülü bir bağımlılık değil,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ile uygulanan dış bir iş kuralıdır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FraudFlag doğrudan IslemID'ye bağlı bağımsız bir sütundur → 7 tablonun tamamı 3NF.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VERİ BÜTÜNLÜĞÜ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Kısıtlar ile İş Kurallarının Zorlanması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589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5740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B223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0574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651760" y="19476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 alanlar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651760" y="235000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Ad, Soyad, TCKN, HesapNo gibi alanlar boş geçilemez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81344" y="1783080"/>
            <a:ext cx="54589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9944" y="205740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B2239"/>
          </a:solidFill>
          <a:ln/>
        </p:spPr>
      </p:sp>
      <p:sp>
        <p:nvSpPr>
          <p:cNvPr id="13" name="Text 10"/>
          <p:cNvSpPr/>
          <p:nvPr/>
        </p:nvSpPr>
        <p:spPr>
          <a:xfrm>
            <a:off x="6409944" y="20574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84464" y="19476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Benzersizlik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84464" y="235000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TCKN, Email ve HesapNo tekrar edemez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64408"/>
            <a:ext cx="54589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538728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B2239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5387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65176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doğrulama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651760" y="3831336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Bakiye ≥ 0, Tutar &gt; 0, ParaBirimi ∈ (TRY,USD,EUR)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81344" y="3264408"/>
            <a:ext cx="54589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9944" y="3538728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B2239"/>
          </a:solidFill>
          <a:ln/>
        </p:spPr>
      </p:sp>
      <p:sp>
        <p:nvSpPr>
          <p:cNvPr id="23" name="Text 20"/>
          <p:cNvSpPr/>
          <p:nvPr/>
        </p:nvSpPr>
        <p:spPr>
          <a:xfrm>
            <a:off x="6409944" y="35387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84464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değer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284464" y="3831336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KayitTarihi = GETDATE(), Durum = 'AKTIF'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489204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0A1B2A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01_ddl.sql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Bakiye      DECIMAL(18,2) NOT NULL DEFAULT 0  CHECK (Bakiye &gt;= 0),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ParaBirimi  CHAR(3)       NOT NULL DEFAULT 'TRY' CHECK (ParaBirimi IN ('TRY','USD','EUR'))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SORGULAR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· Alt Sorgu · Gruplama · ROLLUP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783080"/>
            <a:ext cx="82296" cy="96012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019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çeşitliliği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22199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+ LEFT + SELF JOIN — müşteri, hesap ve işlemleri ilişkilendirme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52928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852928"/>
            <a:ext cx="82296" cy="96012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sorgular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3291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Skaler ( &gt; AVG ) + EXISTS / NOT EXISTS ile koşullu filtreleme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922776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922776"/>
            <a:ext cx="82296" cy="96012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0416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fonksiyonları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7240" y="436168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HAVING ile COUNT / SUM / MIN / MAX analizleri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992624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4992624"/>
            <a:ext cx="82296" cy="96012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51114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77240" y="543153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tipine göre ara ve genel toplam (özet analiz)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67512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Tipine Göre Toplam Hacim (₺)</a:t>
            </a:r>
            <a:endParaRPr lang="en-US" sz="14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92240" y="2057400"/>
          <a:ext cx="5166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İLERİ SQL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· Stored Procedure · Trigger · Index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58968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574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E9384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 ×3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v_aktif_hesaplar · v_kredi_raporu · v_fraud_ozet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0815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 SELECT, JOIN ve aggregate içeren üç görünüm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81344" y="1783080"/>
            <a:ext cx="5458968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55664" y="20574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/>
        </p:spPr>
      </p:sp>
      <p:sp>
        <p:nvSpPr>
          <p:cNvPr id="13" name="Text 10"/>
          <p:cNvSpPr/>
          <p:nvPr/>
        </p:nvSpPr>
        <p:spPr>
          <a:xfrm>
            <a:off x="6455664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 PROC  ×2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55664" y="2697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HesaplaKrediSkoru · IslemEkle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55664" y="30815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Parametreli skor hesabı + bakiye kontrollü işlem ekleme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5458968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" y="406908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069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 ×2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4709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trg_FraudKontrol · trg_BasvuruDegerlendirme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50932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loglama + AFTER UPDATE iş kuralı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81344" y="3794760"/>
            <a:ext cx="5458968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55664" y="406908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23" name="Text 20"/>
          <p:cNvSpPr/>
          <p:nvPr/>
        </p:nvSpPr>
        <p:spPr>
          <a:xfrm>
            <a:off x="6455664" y="4069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 ×4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55664" y="4709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(HesapID, IslemTarihi) + 3 non-clustered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55664" y="50932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sorgulanan FK ve tarih sütunlarında performans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HAREKET YÖNETİMİ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Güvenliği (TCL)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200253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9384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002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71600" y="19019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Transferi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258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hesap arası atomik transfer → tüm adımlar COMMIT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2029968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2029968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2807208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" y="30266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026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37160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 Kullandırımı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2826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 onayı + bakiye yükleme tek blokta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3054096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3054096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831336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" y="405079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B91C1C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" y="4050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371600" y="3950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İhlali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71600" y="43068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Bakiyeyi eksiye düşüren UPDATE → hata yakalanır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263640" y="4078224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/>
        </p:spPr>
      </p:sp>
      <p:sp>
        <p:nvSpPr>
          <p:cNvPr id="26" name="Text 23"/>
          <p:cNvSpPr/>
          <p:nvPr/>
        </p:nvSpPr>
        <p:spPr>
          <a:xfrm>
            <a:off x="6263640" y="4078224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726680" y="1783080"/>
            <a:ext cx="3913632" cy="3072384"/>
          </a:xfrm>
          <a:prstGeom prst="roundRect">
            <a:avLst>
              <a:gd name="adj" fmla="val 2976"/>
            </a:avLst>
          </a:prstGeom>
          <a:solidFill>
            <a:srgbClr val="0B2239"/>
          </a:solidFill>
          <a:ln/>
        </p:spPr>
      </p:sp>
      <p:sp>
        <p:nvSpPr>
          <p:cNvPr id="28" name="Text 25"/>
          <p:cNvSpPr/>
          <p:nvPr/>
        </p:nvSpPr>
        <p:spPr>
          <a:xfrm>
            <a:off x="800100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 Level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8001000" y="23774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30" name="Text 27"/>
          <p:cNvSpPr/>
          <p:nvPr/>
        </p:nvSpPr>
        <p:spPr>
          <a:xfrm>
            <a:off x="80010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COMMITTED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01000" y="301752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Kirli okuma (dirty read) engellenir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deadlock riskini artıracağından tercih edilmedi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kritik işlemler TRY…CATCH ile korunur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48640" y="498348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0A1B2A"/>
          </a:solidFill>
          <a:ln/>
        </p:spPr>
      </p:sp>
      <p:sp>
        <p:nvSpPr>
          <p:cNvPr id="33" name="Text 30"/>
          <p:cNvSpPr/>
          <p:nvPr/>
        </p:nvSpPr>
        <p:spPr>
          <a:xfrm>
            <a:off x="822960" y="510235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TRY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BEGIN TRANSACTION;  ... COMMIT TRANSACTION;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TRY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CATCH  IF @@TRANCOUNT&gt;0 ROLLBACK;  END CATCH;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YETKİLENDİRME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Roller, GRANT ve REVOKE (DCL)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5896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5458968" cy="658368"/>
          </a:xfrm>
          <a:prstGeom prst="roundRect">
            <a:avLst>
              <a:gd name="adj" fmla="val 13889"/>
            </a:avLst>
          </a:prstGeom>
          <a:solidFill>
            <a:srgbClr val="0E938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148840"/>
            <a:ext cx="5458968" cy="292608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7830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db_readonly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2560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Kullanıcı: fintech_reader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29260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tablo ve view'larda SELECT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Yazma yetkisi yok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 / okuma amaçlı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81344" y="1783080"/>
            <a:ext cx="545896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81344" y="1783080"/>
            <a:ext cx="5458968" cy="658368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/>
        </p:spPr>
      </p:sp>
      <p:sp>
        <p:nvSpPr>
          <p:cNvPr id="14" name="Shape 11"/>
          <p:cNvSpPr/>
          <p:nvPr/>
        </p:nvSpPr>
        <p:spPr>
          <a:xfrm>
            <a:off x="6181344" y="2148840"/>
            <a:ext cx="5458968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6501384" y="17830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db_operator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501384" y="2560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Kullanıcı: fintech_operator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01384" y="29260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+ INSERT + UPDATE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IslemEkle prosedürünü çalıştırır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yetkisi REVOKE edildi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Matrisi (özet)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11091672" cy="146304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Nesne / 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Hesap (operator)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3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3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3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(reader)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3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(operator)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93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VERİ AMBARI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Yıldız Şema ve OLAP Sorguları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926080" y="2148840"/>
            <a:ext cx="914" cy="1737360"/>
          </a:xfrm>
          <a:prstGeom prst="line">
            <a:avLst/>
          </a:prstGeom>
          <a:noFill/>
          <a:ln w="25400">
            <a:solidFill>
              <a:srgbClr val="0E9384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 flipV="1">
            <a:off x="1417320" y="3886200"/>
            <a:ext cx="1508760" cy="1463040"/>
          </a:xfrm>
          <a:prstGeom prst="line">
            <a:avLst/>
          </a:prstGeom>
          <a:noFill/>
          <a:ln w="25400">
            <a:solidFill>
              <a:srgbClr val="0E9384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926080" y="3886200"/>
            <a:ext cx="1508760" cy="1463040"/>
          </a:xfrm>
          <a:prstGeom prst="line">
            <a:avLst/>
          </a:prstGeom>
          <a:noFill/>
          <a:ln w="25400">
            <a:solidFill>
              <a:srgbClr val="0E9384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057400" y="338328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0B2239"/>
          </a:solidFill>
          <a:ln/>
        </p:spPr>
      </p:sp>
      <p:sp>
        <p:nvSpPr>
          <p:cNvPr id="10" name="Text 7"/>
          <p:cNvSpPr/>
          <p:nvPr/>
        </p:nvSpPr>
        <p:spPr>
          <a:xfrm>
            <a:off x="2057400" y="3383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Fact_Islem
</a:t>
            </a:r>
            <a:pPr algn="ctr" indent="0" marL="0">
              <a:buNone/>
            </a:pPr>
            <a:r>
              <a:rPr lang="en-US" sz="9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 · FraudFlag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03120" y="18288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9050">
            <a:solidFill>
              <a:srgbClr val="0E93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0312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Dim_Musteri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4360" y="50292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9050">
            <a:solidFill>
              <a:srgbClr val="0E938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5029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Dim_Hesap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11880" y="50292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9050">
            <a:solidFill>
              <a:srgbClr val="0E938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5029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Dim_Tarih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5989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 + 3 Dimension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1783080"/>
            <a:ext cx="5513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55080" y="20116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0E9384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ROLLUP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5508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 / Ay bazlı toplam ciro — ara toplam + genel toplam üretir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26480" y="3337560"/>
            <a:ext cx="5513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55080" y="356616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635508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355080" y="4114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HesapTipi × ParaBirimi çapraz analiz — tüm kombinasyonların toplamı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26480" y="4892040"/>
            <a:ext cx="5513832" cy="1325880"/>
          </a:xfrm>
          <a:prstGeom prst="roundRect">
            <a:avLst>
              <a:gd name="adj" fmla="val 5517"/>
            </a:avLst>
          </a:prstGeom>
          <a:solidFill>
            <a:srgbClr val="0A1B2A"/>
          </a:solidFill>
          <a:ln/>
        </p:spPr>
      </p:sp>
      <p:sp>
        <p:nvSpPr>
          <p:cNvPr id="27" name="Text 24"/>
          <p:cNvSpPr/>
          <p:nvPr/>
        </p:nvSpPr>
        <p:spPr>
          <a:xfrm>
            <a:off x="635508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ETL: INSERT … SELECT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355080" y="534924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Kaynak OLTP tablolarından hedef OLAP tablolarına aktarım; tarih için YYYYMMDD surrogate key.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FARK YARATAN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Makine Öğrenmesi + SQL Entegrasyonu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F2E47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205740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E938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1284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3172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804672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Çekme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4672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Kredi_Basvuru + Hesap verileri SQL'den okunur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090672" y="2514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3337560" y="17830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F2E47"/>
          </a:solidFill>
          <a:ln/>
        </p:spPr>
      </p:sp>
      <p:sp>
        <p:nvSpPr>
          <p:cNvPr id="14" name="Shape 10"/>
          <p:cNvSpPr/>
          <p:nvPr/>
        </p:nvSpPr>
        <p:spPr>
          <a:xfrm>
            <a:off x="3593592" y="205740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E938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21284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3593592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Eğitimi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593592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ile onay/red tahmini eğitilir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879592" y="2514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0" name="Shape 15"/>
          <p:cNvSpPr/>
          <p:nvPr/>
        </p:nvSpPr>
        <p:spPr>
          <a:xfrm>
            <a:off x="6126480" y="17830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F2E47"/>
          </a:solidFill>
          <a:ln/>
        </p:spPr>
      </p:sp>
      <p:sp>
        <p:nvSpPr>
          <p:cNvPr id="21" name="Shape 16"/>
          <p:cNvSpPr/>
          <p:nvPr/>
        </p:nvSpPr>
        <p:spPr>
          <a:xfrm>
            <a:off x="6382512" y="205740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E938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21284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0956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6382512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382512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başvurular için onay olasılığı hesaplanır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668512" y="2514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915400" y="17830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F2E47"/>
          </a:solidFill>
          <a:ln/>
        </p:spPr>
      </p:sp>
      <p:sp>
        <p:nvSpPr>
          <p:cNvPr id="28" name="Shape 22"/>
          <p:cNvSpPr/>
          <p:nvPr/>
        </p:nvSpPr>
        <p:spPr>
          <a:xfrm>
            <a:off x="9171432" y="205740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E938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212848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69848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1" name="Text 24"/>
          <p:cNvSpPr/>
          <p:nvPr/>
        </p:nvSpPr>
        <p:spPr>
          <a:xfrm>
            <a:off x="9171432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Yazma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171432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ML_Model_Sonuc tablosuna kaydedilir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429768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0F2E47"/>
          </a:solidFill>
          <a:ln/>
        </p:spPr>
      </p:sp>
      <p:sp>
        <p:nvSpPr>
          <p:cNvPr id="34" name="Text 27"/>
          <p:cNvSpPr/>
          <p:nvPr/>
        </p:nvSpPr>
        <p:spPr>
          <a:xfrm>
            <a:off x="91440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önemli?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914400" y="489204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verinin yanında çalışır — veri veritabanı dışına çıkmaz.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gecikme, yüksek güvenlik ve operasyonel sistemlerle kolay entegrasyon sağlar.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konumuz (ML + SQL Entegrasyonu) ile projeyi birebir bütünleştirir.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EKİP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Bireysel Katkı Dağılımı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47872" cy="40233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3547872" cy="1371600"/>
          </a:xfrm>
          <a:prstGeom prst="roundRect">
            <a:avLst>
              <a:gd name="adj" fmla="val 8000"/>
            </a:avLst>
          </a:prstGeom>
          <a:solidFill>
            <a:srgbClr val="0E938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926080"/>
            <a:ext cx="3547872" cy="27432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9" name="Shape 6"/>
          <p:cNvSpPr/>
          <p:nvPr/>
        </p:nvSpPr>
        <p:spPr>
          <a:xfrm>
            <a:off x="1865376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865376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 Nur Karabulut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39776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şema tasarımı (01) · DML örnek verileri (02) · ER diyagramı · Normalizasyon analizi · Proje raporu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70248" y="1828800"/>
            <a:ext cx="3547872" cy="40233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70248" y="1828800"/>
            <a:ext cx="3547872" cy="13716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/>
        </p:spPr>
      </p:sp>
      <p:sp>
        <p:nvSpPr>
          <p:cNvPr id="15" name="Shape 12"/>
          <p:cNvSpPr/>
          <p:nvPr/>
        </p:nvSpPr>
        <p:spPr>
          <a:xfrm>
            <a:off x="4270248" y="2926080"/>
            <a:ext cx="3547872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Shape 13"/>
          <p:cNvSpPr/>
          <p:nvPr/>
        </p:nvSpPr>
        <p:spPr>
          <a:xfrm>
            <a:off x="5586984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5586984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453128" y="333756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 Karaman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90288" y="39776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(train · predict · generate) · Stored Procedure tasarımı (05) · Veri ambarı (09)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91856" y="1828800"/>
            <a:ext cx="3547872" cy="40233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2239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91856" y="1828800"/>
            <a:ext cx="3547872" cy="1371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22" name="Shape 19"/>
          <p:cNvSpPr/>
          <p:nvPr/>
        </p:nvSpPr>
        <p:spPr>
          <a:xfrm>
            <a:off x="7991856" y="2926080"/>
            <a:ext cx="3547872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0"/>
          <p:cNvSpPr/>
          <p:nvPr/>
        </p:nvSpPr>
        <p:spPr>
          <a:xfrm>
            <a:off x="9308592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9308592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MŞ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174736" y="333756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Metehan Şener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11896" y="39776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Sorgular (03) · VIEW (04) · Trigger (06) · Transaction yönetimi (07) · Güvenlik &amp; yetkilendirme (08)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91440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0F2E47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4754880"/>
            <a:ext cx="2926080" cy="2926080"/>
          </a:xfrm>
          <a:prstGeom prst="roundRect">
            <a:avLst>
              <a:gd name="adj" fmla="val 9375"/>
            </a:avLst>
          </a:prstGeom>
          <a:solidFill>
            <a:srgbClr val="0F2E4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288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0E938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Teşekkürler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7724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Sorularınızı yanıtlamaktan memnuniyet duyarız.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4663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FintechDB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OLTP · İleri SQL · TCL/DCL · Veri Ambarı · Makine Öğrenmesi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 Karaman  ·  Metehan Şener  ·  Sude Nur Karabulut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FintechDB – Proje Sunumu</dc:title>
  <dc:subject>PptxGenJS Presentation</dc:subject>
  <dc:creator>Emir Karaman, Metehan Şener, Sude Nur Karabulut</dc:creator>
  <cp:lastModifiedBy>Emir Karaman, Metehan Şener, Sude Nur Karabulut</cp:lastModifiedBy>
  <cp:revision>1</cp:revision>
  <dcterms:created xsi:type="dcterms:W3CDTF">2026-05-29T15:41:40Z</dcterms:created>
  <dcterms:modified xsi:type="dcterms:W3CDTF">2026-05-29T15:41:40Z</dcterms:modified>
</cp:coreProperties>
</file>