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16"/>
  </p:notesMasterIdLst>
  <p:sldIdLst>
    <p:sldId id="271" r:id="rId3"/>
    <p:sldId id="257" r:id="rId4"/>
    <p:sldId id="258" r:id="rId5"/>
    <p:sldId id="273" r:id="rId6"/>
    <p:sldId id="260" r:id="rId7"/>
    <p:sldId id="261" r:id="rId8"/>
    <p:sldId id="262" r:id="rId9"/>
    <p:sldId id="263" r:id="rId10"/>
    <p:sldId id="264" r:id="rId11"/>
    <p:sldId id="265" r:id="rId12"/>
    <p:sldId id="266" r:id="rId13"/>
    <p:sldId id="269" r:id="rId14"/>
    <p:sldId id="268" r:id="rId15"/>
  </p:sldIdLst>
  <p:sldSz cx="12192000" cy="6858000"/>
  <p:notesSz cx="6858000" cy="9144000"/>
  <p:embeddedFontLst>
    <p:embeddedFont>
      <p:font typeface="Georgia" panose="02040502050405020303" pitchFamily="18" charset="0"/>
      <p:regular r:id="rId17"/>
      <p:bold r:id="rId18"/>
      <p:italic r:id="rId19"/>
      <p:boldItalic r:id="rId20"/>
    </p:embeddedFont>
    <p:embeddedFont>
      <p:font typeface="Outfit" panose="020B0604020202020204" charset="0"/>
      <p:regular r:id="rId21"/>
      <p:bold r:id="rId22"/>
    </p:embeddedFont>
    <p:embeddedFont>
      <p:font typeface="Outfit SemiBold" panose="020B060402020202020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DE0B6C-D3BE-4681-99CD-2D6062C752BC}">
  <a:tblStyle styleId="{0FDE0B6C-D3BE-4681-99CD-2D6062C752B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72"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4A4B8-4D15-D656-0465-BA4EDA171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AC02A-8228-7C68-9A7F-DAADB71F115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E07FCCC-6DEE-AC38-2C06-1CF9369F4C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0503BA-D13C-D1A1-7738-477C05D21CE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8225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1C97D-B56D-EA2E-EE78-5449603F0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C4E4D-965D-46EA-DE6E-C463951CE94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164D9CB-2C1F-4951-CA42-68BF25B9D9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A6A101-22F8-0E42-B81A-7CCE3D2B93C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2106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455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952585"/>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239"/>
        </a:solidFill>
        <a:effectLst/>
      </p:bgPr>
    </p:bg>
    <p:spTree>
      <p:nvGrpSpPr>
        <p:cNvPr id="1" name="">
          <a:extLst>
            <a:ext uri="{FF2B5EF4-FFF2-40B4-BE49-F238E27FC236}">
              <a16:creationId xmlns:a16="http://schemas.microsoft.com/office/drawing/2014/main" id="{2A496844-7D14-03CB-FC68-AE480D582BE5}"/>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3CB83DC8-103C-B332-EA39-F5F636633F42}"/>
              </a:ext>
            </a:extLst>
          </p:cNvPr>
          <p:cNvSpPr/>
          <p:nvPr/>
        </p:nvSpPr>
        <p:spPr>
          <a:xfrm>
            <a:off x="731520" y="804765"/>
            <a:ext cx="100584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200" normalizeH="0" baseline="0" noProof="0" dirty="0">
                <a:ln>
                  <a:noFill/>
                </a:ln>
                <a:solidFill>
                  <a:srgbClr val="2DD4BF"/>
                </a:solidFill>
                <a:effectLst/>
                <a:uLnTx/>
                <a:uFillTx/>
                <a:latin typeface="Calibri" pitchFamily="34" charset="0"/>
                <a:ea typeface="Calibri" pitchFamily="34" charset="-122"/>
                <a:cs typeface="Calibri" pitchFamily="34" charset="-120"/>
              </a:rPr>
              <a:t>GELİŞMİŞ VERİ TABANI UYGULAMALARI</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FB744212-B0BB-48F6-5526-F600EE2DA5BF}"/>
              </a:ext>
            </a:extLst>
          </p:cNvPr>
          <p:cNvSpPr/>
          <p:nvPr/>
        </p:nvSpPr>
        <p:spPr>
          <a:xfrm>
            <a:off x="731520" y="1536285"/>
            <a:ext cx="10058400" cy="914400"/>
          </a:xfrm>
          <a:prstGeom prst="rect">
            <a:avLst/>
          </a:prstGeom>
          <a:noFill/>
          <a:ln/>
        </p:spPr>
        <p:txBody>
          <a:bodyPr wrap="square" lIns="0" tIns="0" rIns="0" bIns="0" rtlCol="0" anchor="ctr"/>
          <a:lstStyle/>
          <a:p>
            <a:pPr>
              <a:buClrTx/>
            </a:pPr>
            <a:r>
              <a:rPr lang="en-US" sz="4000" dirty="0">
                <a:solidFill>
                  <a:srgbClr val="F8FAFC"/>
                </a:solidFill>
                <a:latin typeface="Outfit SemiBold"/>
                <a:ea typeface="Outfit SemiBold"/>
                <a:cs typeface="Outfit SemiBold"/>
                <a:sym typeface="Outfit SemiBold"/>
              </a:rPr>
              <a:t>Fintech</a:t>
            </a:r>
            <a:r>
              <a:rPr lang="en-US" sz="4000" dirty="0">
                <a:solidFill>
                  <a:srgbClr val="38BDF8"/>
                </a:solidFill>
                <a:latin typeface="Outfit SemiBold"/>
                <a:ea typeface="Outfit SemiBold"/>
                <a:cs typeface="Outfit SemiBold"/>
                <a:sym typeface="Outfit SemiBold"/>
              </a:rPr>
              <a:t>DB</a:t>
            </a:r>
            <a:endParaRPr lang="en-US" sz="4000" dirty="0"/>
          </a:p>
        </p:txBody>
      </p:sp>
      <p:sp>
        <p:nvSpPr>
          <p:cNvPr id="8" name="Text 5">
            <a:extLst>
              <a:ext uri="{FF2B5EF4-FFF2-40B4-BE49-F238E27FC236}">
                <a16:creationId xmlns:a16="http://schemas.microsoft.com/office/drawing/2014/main" id="{8070EFF1-66A1-C04C-7232-518DA9B60430}"/>
              </a:ext>
            </a:extLst>
          </p:cNvPr>
          <p:cNvSpPr/>
          <p:nvPr/>
        </p:nvSpPr>
        <p:spPr>
          <a:xfrm>
            <a:off x="640080" y="2450685"/>
            <a:ext cx="1051560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Fintech </a:t>
            </a:r>
            <a:r>
              <a:rPr kumimoji="0" lang="tr-TR" sz="2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sektörü için</a:t>
            </a:r>
            <a:r>
              <a:rPr kumimoji="0" lang="en-US" sz="2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a:t>
            </a:r>
            <a:r>
              <a:rPr kumimoji="0" lang="tr-TR" sz="2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hazırlanmış veritabanı sistemi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D67EF71B-BBEF-275A-DB8C-56D94D7D9CCE}"/>
              </a:ext>
            </a:extLst>
          </p:cNvPr>
          <p:cNvSpPr/>
          <p:nvPr/>
        </p:nvSpPr>
        <p:spPr>
          <a:xfrm>
            <a:off x="664340" y="3219527"/>
            <a:ext cx="310896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Emir Karaman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2303022018</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a:extLst>
              <a:ext uri="{FF2B5EF4-FFF2-40B4-BE49-F238E27FC236}">
                <a16:creationId xmlns:a16="http://schemas.microsoft.com/office/drawing/2014/main" id="{15132327-9A4E-3849-B8D6-D1EE4CC308F7}"/>
              </a:ext>
            </a:extLst>
          </p:cNvPr>
          <p:cNvSpPr/>
          <p:nvPr/>
        </p:nvSpPr>
        <p:spPr>
          <a:xfrm>
            <a:off x="664340" y="4160520"/>
            <a:ext cx="310896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Metehan Şener</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2303022052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a:extLst>
              <a:ext uri="{FF2B5EF4-FFF2-40B4-BE49-F238E27FC236}">
                <a16:creationId xmlns:a16="http://schemas.microsoft.com/office/drawing/2014/main" id="{B90586FF-21E3-B705-4667-FEDAD938E2F8}"/>
              </a:ext>
            </a:extLst>
          </p:cNvPr>
          <p:cNvSpPr/>
          <p:nvPr/>
        </p:nvSpPr>
        <p:spPr>
          <a:xfrm>
            <a:off x="640080" y="5101513"/>
            <a:ext cx="329184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Sude Nur Karabulut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2503022072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145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7"/>
        <p:cNvGrpSpPr/>
        <p:nvPr/>
      </p:nvGrpSpPr>
      <p:grpSpPr>
        <a:xfrm>
          <a:off x="0" y="0"/>
          <a:ext cx="0" cy="0"/>
          <a:chOff x="0" y="0"/>
          <a:chExt cx="0" cy="0"/>
        </a:xfrm>
      </p:grpSpPr>
      <p:pic>
        <p:nvPicPr>
          <p:cNvPr id="98" name="Google Shape;98;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0" name="Google Shape;100;p14"/>
          <p:cNvSpPr txBox="1"/>
          <p:nvPr/>
        </p:nvSpPr>
        <p:spPr>
          <a:xfrm>
            <a:off x="871538" y="1799455"/>
            <a:ext cx="550068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E0F2FE"/>
                </a:solidFill>
                <a:latin typeface="Outfit SemiBold"/>
                <a:ea typeface="Outfit SemiBold"/>
                <a:cs typeface="Outfit SemiBold"/>
                <a:sym typeface="Outfit SemiBold"/>
              </a:rPr>
              <a:t>FintechDB Nedir?</a:t>
            </a:r>
            <a:endParaRPr dirty="0"/>
          </a:p>
        </p:txBody>
      </p:sp>
      <p:sp>
        <p:nvSpPr>
          <p:cNvPr id="102" name="Google Shape;102;p14"/>
          <p:cNvSpPr txBox="1"/>
          <p:nvPr/>
        </p:nvSpPr>
        <p:spPr>
          <a:xfrm>
            <a:off x="581025" y="2418121"/>
            <a:ext cx="5238750" cy="1107996"/>
          </a:xfrm>
          <a:prstGeom prst="rect">
            <a:avLst/>
          </a:prstGeom>
          <a:noFill/>
          <a:ln>
            <a:noFill/>
          </a:ln>
        </p:spPr>
        <p:txBody>
          <a:bodyPr spcFirstLastPara="1" wrap="square" lIns="66675" tIns="0" rIns="0" bIns="0" anchor="t" anchorCtr="0">
            <a:spAutoFit/>
          </a:bodyPr>
          <a:lstStyle/>
          <a:p>
            <a:pPr marL="285750" marR="0" lvl="0" indent="-285750" algn="l" rtl="0">
              <a:lnSpc>
                <a:spcPct val="160000"/>
              </a:lnSpc>
              <a:spcBef>
                <a:spcPts val="0"/>
              </a:spcBef>
              <a:spcAft>
                <a:spcPts val="0"/>
              </a:spcAft>
              <a:buClr>
                <a:schemeClr val="bg1"/>
              </a:buClr>
              <a:buFont typeface="Arial" panose="020B0604020202020204" pitchFamily="34" charset="0"/>
              <a:buChar char="•"/>
            </a:pPr>
            <a:r>
              <a:rPr lang="en-US" sz="1500" b="0" i="0" u="none" strike="noStrike" cap="none" dirty="0" err="1">
                <a:solidFill>
                  <a:schemeClr val="bg1"/>
                </a:solidFill>
                <a:latin typeface="Outfit"/>
                <a:ea typeface="Outfit"/>
                <a:cs typeface="Outfit"/>
                <a:sym typeface="Outfit"/>
              </a:rPr>
              <a:t>Finansal</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teknoloji</a:t>
            </a:r>
            <a:r>
              <a:rPr lang="en-US" sz="1500" b="0" i="0" u="none" strike="noStrike" cap="none" dirty="0">
                <a:solidFill>
                  <a:schemeClr val="bg1"/>
                </a:solidFill>
                <a:latin typeface="Outfit"/>
                <a:ea typeface="Outfit"/>
                <a:cs typeface="Outfit"/>
                <a:sym typeface="Outfit"/>
              </a:rPr>
              <a:t> (fintech) </a:t>
            </a:r>
            <a:r>
              <a:rPr lang="en-US" sz="1500" b="0" i="0" u="none" strike="noStrike" cap="none" dirty="0" err="1">
                <a:solidFill>
                  <a:schemeClr val="bg1"/>
                </a:solidFill>
                <a:latin typeface="Outfit"/>
                <a:ea typeface="Outfit"/>
                <a:cs typeface="Outfit"/>
                <a:sym typeface="Outfit"/>
              </a:rPr>
              <a:t>sektörüne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yönelik</a:t>
            </a:r>
            <a:r>
              <a:rPr lang="en-US" sz="1500" b="0" i="0" u="none" strike="noStrike" cap="none" dirty="0">
                <a:solidFill>
                  <a:schemeClr val="bg1"/>
                </a:solidFill>
                <a:latin typeface="Outfit"/>
                <a:ea typeface="Outfit"/>
                <a:cs typeface="Outfit"/>
                <a:sym typeface="Outfit"/>
              </a:rPr>
              <a:t>,</a:t>
            </a:r>
            <a:r>
              <a:rPr lang="tr-TR"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güvenlikli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ve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ölçeklenebilir</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olarak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tasarlanmış</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bir</a:t>
            </a:r>
            <a:r>
              <a:rPr lang="en-US" sz="1500" b="0" i="0" u="none" strike="noStrike" cap="none" dirty="0">
                <a:solidFill>
                  <a:schemeClr val="bg1"/>
                </a:solidFill>
                <a:latin typeface="Outfit"/>
                <a:ea typeface="Outfit"/>
                <a:cs typeface="Outfit"/>
                <a:sym typeface="Outfit"/>
              </a:rPr>
              <a:t> </a:t>
            </a:r>
            <a:r>
              <a:rPr lang="en-US" sz="1500" b="1" i="0" u="none" strike="noStrike" cap="none" dirty="0">
                <a:solidFill>
                  <a:schemeClr val="bg1"/>
                </a:solidFill>
                <a:latin typeface="Outfit"/>
                <a:ea typeface="Outfit"/>
                <a:cs typeface="Outfit"/>
                <a:sym typeface="Outfit"/>
              </a:rPr>
              <a:t>SQL Server veritabanı</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projesidir</a:t>
            </a:r>
            <a:r>
              <a:rPr lang="en-US" sz="1500" b="0" i="0" u="none" strike="noStrike" cap="none" dirty="0">
                <a:solidFill>
                  <a:schemeClr val="bg1"/>
                </a:solidFill>
                <a:latin typeface="Outfit"/>
                <a:ea typeface="Outfit"/>
                <a:cs typeface="Outfit"/>
                <a:sym typeface="Outfit"/>
              </a:rPr>
              <a:t>.</a:t>
            </a:r>
            <a:endParaRPr dirty="0">
              <a:solidFill>
                <a:schemeClr val="bg1"/>
              </a:solidFill>
            </a:endParaRPr>
          </a:p>
        </p:txBody>
      </p:sp>
      <p:sp>
        <p:nvSpPr>
          <p:cNvPr id="104" name="Google Shape;104;p14"/>
          <p:cNvSpPr txBox="1"/>
          <p:nvPr/>
        </p:nvSpPr>
        <p:spPr>
          <a:xfrm>
            <a:off x="571500" y="3581399"/>
            <a:ext cx="5367184" cy="1128711"/>
          </a:xfrm>
          <a:prstGeom prst="rect">
            <a:avLst/>
          </a:prstGeom>
          <a:noFill/>
          <a:ln>
            <a:noFill/>
          </a:ln>
        </p:spPr>
        <p:txBody>
          <a:bodyPr spcFirstLastPara="1" wrap="square" lIns="66675" tIns="0" rIns="0" bIns="0" anchor="t" anchorCtr="0">
            <a:spAutoFit/>
          </a:bodyPr>
          <a:lstStyle/>
          <a:p>
            <a:pPr marL="285750" marR="0" lvl="0" indent="-285750" algn="l" rtl="0">
              <a:lnSpc>
                <a:spcPct val="160000"/>
              </a:lnSpc>
              <a:spcBef>
                <a:spcPts val="0"/>
              </a:spcBef>
              <a:spcAft>
                <a:spcPts val="0"/>
              </a:spcAft>
              <a:buClr>
                <a:schemeClr val="bg1"/>
              </a:buClr>
              <a:buFont typeface="Arial" panose="020B0604020202020204" pitchFamily="34" charset="0"/>
              <a:buChar char="•"/>
            </a:pPr>
            <a:r>
              <a:rPr lang="en-US" sz="1500" b="0" i="0" u="none" strike="noStrike" cap="none" dirty="0">
                <a:solidFill>
                  <a:schemeClr val="bg1"/>
                </a:solidFill>
                <a:latin typeface="Outfit"/>
                <a:ea typeface="Outfit"/>
                <a:cs typeface="Outfit"/>
                <a:sym typeface="Outfit"/>
              </a:rPr>
              <a:t>Temel </a:t>
            </a:r>
            <a:r>
              <a:rPr lang="en-US" sz="1500" b="0" i="0" u="none" strike="noStrike" cap="none" dirty="0" err="1">
                <a:solidFill>
                  <a:schemeClr val="bg1"/>
                </a:solidFill>
                <a:latin typeface="Outfit"/>
                <a:ea typeface="Outfit"/>
                <a:cs typeface="Outfit"/>
                <a:sym typeface="Outfit"/>
              </a:rPr>
              <a:t>bankacılık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süreçlerini</a:t>
            </a:r>
            <a:r>
              <a:rPr lang="en-US" sz="1500" b="0" i="0" u="none" strike="noStrike" cap="none" dirty="0">
                <a:solidFill>
                  <a:schemeClr val="bg1"/>
                </a:solidFill>
                <a:latin typeface="Outfit"/>
                <a:ea typeface="Outfit"/>
                <a:cs typeface="Outfit"/>
                <a:sym typeface="Outfit"/>
              </a:rPr>
              <a:t> modern </a:t>
            </a:r>
            <a:r>
              <a:rPr lang="en-US" sz="1500" b="0" i="0" u="none" strike="noStrike" cap="none" dirty="0" err="1">
                <a:solidFill>
                  <a:schemeClr val="bg1"/>
                </a:solidFill>
                <a:latin typeface="Outfit"/>
                <a:ea typeface="Outfit"/>
                <a:cs typeface="Outfit"/>
                <a:sym typeface="Outfit"/>
              </a:rPr>
              <a:t>bir</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altyapı</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ile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modeller</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Müşteri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yönetimi</a:t>
            </a:r>
            <a:r>
              <a:rPr lang="en-US" sz="1500" b="0" i="0" u="none" strike="noStrike" cap="none" dirty="0">
                <a:solidFill>
                  <a:schemeClr val="bg1"/>
                </a:solidFill>
                <a:latin typeface="Outfit"/>
                <a:ea typeface="Outfit"/>
                <a:cs typeface="Outfit"/>
                <a:sym typeface="Outfit"/>
              </a:rPr>
              <a:t>, para </a:t>
            </a:r>
            <a:r>
              <a:rPr lang="en-US" sz="1500" b="0" i="0" u="none" strike="noStrike" cap="none" dirty="0" err="1">
                <a:solidFill>
                  <a:schemeClr val="bg1"/>
                </a:solidFill>
                <a:latin typeface="Outfit"/>
                <a:ea typeface="Outfit"/>
                <a:cs typeface="Outfit"/>
                <a:sym typeface="Outfit"/>
              </a:rPr>
              <a:t>transferleri</a:t>
            </a:r>
            <a:r>
              <a:rPr lang="en-US" sz="1500" b="0" i="0" u="none" strike="noStrike" cap="none" dirty="0">
                <a:solidFill>
                  <a:schemeClr val="bg1"/>
                </a:solidFill>
                <a:latin typeface="Outfit"/>
                <a:ea typeface="Outfit"/>
                <a:cs typeface="Outfit"/>
                <a:sym typeface="Outfit"/>
              </a:rPr>
              <a:t> (EFT/HAVALE) </a:t>
            </a:r>
            <a:r>
              <a:rPr lang="en-US" sz="1500" b="0" i="0" u="none" strike="noStrike" cap="none" dirty="0" err="1">
                <a:solidFill>
                  <a:schemeClr val="bg1"/>
                </a:solidFill>
                <a:latin typeface="Outfit"/>
                <a:ea typeface="Outfit"/>
                <a:cs typeface="Outfit"/>
                <a:sym typeface="Outfit"/>
              </a:rPr>
              <a:t>ve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hesap</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işlemleri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tek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merkezden</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yürütülür</a:t>
            </a:r>
            <a:r>
              <a:rPr lang="en-US" sz="1500" b="0" i="0" u="none" strike="noStrike" cap="none" dirty="0">
                <a:solidFill>
                  <a:schemeClr val="bg1"/>
                </a:solidFill>
                <a:latin typeface="Outfit"/>
                <a:ea typeface="Outfit"/>
                <a:cs typeface="Outfit"/>
                <a:sym typeface="Outfit"/>
              </a:rPr>
              <a:t>.</a:t>
            </a:r>
            <a:endParaRPr dirty="0">
              <a:solidFill>
                <a:schemeClr val="bg1"/>
              </a:solidFill>
            </a:endParaRPr>
          </a:p>
        </p:txBody>
      </p:sp>
      <p:sp>
        <p:nvSpPr>
          <p:cNvPr id="106" name="Google Shape;106;p14"/>
          <p:cNvSpPr txBox="1"/>
          <p:nvPr/>
        </p:nvSpPr>
        <p:spPr>
          <a:xfrm>
            <a:off x="581025" y="4776788"/>
            <a:ext cx="5524500" cy="1128712"/>
          </a:xfrm>
          <a:prstGeom prst="rect">
            <a:avLst/>
          </a:prstGeom>
          <a:noFill/>
          <a:ln>
            <a:noFill/>
          </a:ln>
        </p:spPr>
        <p:txBody>
          <a:bodyPr spcFirstLastPara="1" wrap="square" lIns="66675" tIns="0" rIns="0" bIns="0" anchor="t" anchorCtr="0">
            <a:spAutoFit/>
          </a:bodyPr>
          <a:lstStyle/>
          <a:p>
            <a:pPr marL="285750" marR="0" lvl="0" indent="-285750" algn="l" rtl="0">
              <a:lnSpc>
                <a:spcPct val="160000"/>
              </a:lnSpc>
              <a:spcBef>
                <a:spcPts val="0"/>
              </a:spcBef>
              <a:spcAft>
                <a:spcPts val="0"/>
              </a:spcAft>
              <a:buClr>
                <a:schemeClr val="bg1"/>
              </a:buClr>
              <a:buFont typeface="Arial" panose="020B0604020202020204" pitchFamily="34" charset="0"/>
              <a:buChar char="•"/>
            </a:pPr>
            <a:r>
              <a:rPr lang="en-US" sz="1500" b="0" i="0" u="none" strike="noStrike" cap="none" dirty="0" err="1">
                <a:solidFill>
                  <a:schemeClr val="bg1"/>
                </a:solidFill>
                <a:latin typeface="Outfit"/>
                <a:ea typeface="Outfit"/>
                <a:cs typeface="Outfit"/>
                <a:sym typeface="Outfit"/>
              </a:rPr>
              <a:t>Geleneksel</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bankacılığa</a:t>
            </a:r>
            <a:r>
              <a:rPr lang="en-US" sz="1500" b="0" i="0" u="none" strike="noStrike" cap="none" dirty="0">
                <a:solidFill>
                  <a:schemeClr val="bg1"/>
                </a:solidFill>
                <a:latin typeface="Outfit"/>
                <a:ea typeface="Outfit"/>
                <a:cs typeface="Outfit"/>
                <a:sym typeface="Outfit"/>
              </a:rPr>
              <a:t> ek </a:t>
            </a:r>
            <a:r>
              <a:rPr lang="en-US" sz="1500" b="0" i="0" u="none" strike="noStrike" cap="none" dirty="0" err="1">
                <a:solidFill>
                  <a:schemeClr val="bg1"/>
                </a:solidFill>
                <a:latin typeface="Outfit"/>
                <a:ea typeface="Outfit"/>
                <a:cs typeface="Outfit"/>
                <a:sym typeface="Outfit"/>
              </a:rPr>
              <a:t>olarak</a:t>
            </a:r>
            <a:r>
              <a:rPr lang="en-US" sz="1500" b="0"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makine</a:t>
            </a:r>
            <a:r>
              <a:rPr lang="en-US" sz="1500" b="1"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öğrenmesi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entegrasyonu</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ile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kredi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başvuru</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değerlendirmesi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ve</a:t>
            </a:r>
            <a:r>
              <a:rPr lang="en-US" sz="1500" b="0"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gerçek</a:t>
            </a:r>
            <a:r>
              <a:rPr lang="en-US" sz="1500" b="1"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zamanlı</a:t>
            </a:r>
            <a:r>
              <a:rPr lang="en-US" sz="1500" b="1"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dolandırıcılık</a:t>
            </a:r>
            <a:r>
              <a:rPr lang="en-US" sz="1500" b="1"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tespiti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sağlar</a:t>
            </a:r>
            <a:r>
              <a:rPr lang="en-US" sz="1500" b="0" i="0" u="none" strike="noStrike" cap="none" dirty="0">
                <a:solidFill>
                  <a:schemeClr val="bg1"/>
                </a:solidFill>
                <a:latin typeface="Outfit"/>
                <a:ea typeface="Outfit"/>
                <a:cs typeface="Outfit"/>
                <a:sym typeface="Outfit"/>
              </a:rPr>
              <a:t>.</a:t>
            </a:r>
            <a:endParaRPr dirty="0">
              <a:solidFill>
                <a:schemeClr val="bg1"/>
              </a:solidFill>
            </a:endParaRPr>
          </a:p>
        </p:txBody>
      </p:sp>
      <p:sp>
        <p:nvSpPr>
          <p:cNvPr id="108" name="Google Shape;108;p14"/>
          <p:cNvSpPr txBox="1"/>
          <p:nvPr/>
        </p:nvSpPr>
        <p:spPr>
          <a:xfrm>
            <a:off x="571500" y="571500"/>
            <a:ext cx="1160145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38BDF8"/>
                </a:solidFill>
                <a:latin typeface="Outfit SemiBold"/>
                <a:ea typeface="Outfit SemiBold"/>
                <a:cs typeface="Outfit SemiBold"/>
                <a:sym typeface="Outfit SemiBold"/>
              </a:rPr>
              <a:t>Proje Konusu ve İş Senaryosu</a:t>
            </a:r>
            <a:endParaRPr/>
          </a:p>
        </p:txBody>
      </p:sp>
      <p:pic>
        <p:nvPicPr>
          <p:cNvPr id="5" name="Picture 4">
            <a:extLst>
              <a:ext uri="{FF2B5EF4-FFF2-40B4-BE49-F238E27FC236}">
                <a16:creationId xmlns:a16="http://schemas.microsoft.com/office/drawing/2014/main" id="{1476F04D-018B-AFB0-E213-80A11959F10F}"/>
              </a:ext>
            </a:extLst>
          </p:cNvPr>
          <p:cNvPicPr>
            <a:picLocks noChangeAspect="1"/>
          </p:cNvPicPr>
          <p:nvPr/>
        </p:nvPicPr>
        <p:blipFill>
          <a:blip r:embed="rId4"/>
          <a:stretch>
            <a:fillRect/>
          </a:stretch>
        </p:blipFill>
        <p:spPr>
          <a:xfrm>
            <a:off x="6444245" y="2278966"/>
            <a:ext cx="5123285" cy="33763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2"/>
        <p:cNvGrpSpPr/>
        <p:nvPr/>
      </p:nvGrpSpPr>
      <p:grpSpPr>
        <a:xfrm>
          <a:off x="0" y="0"/>
          <a:ext cx="0" cy="0"/>
          <a:chOff x="0" y="0"/>
          <a:chExt cx="0" cy="0"/>
        </a:xfrm>
      </p:grpSpPr>
      <p:pic>
        <p:nvPicPr>
          <p:cNvPr id="113" name="Google Shape;11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4" name="Google Shape;114;p15" descr="image.png"/>
          <p:cNvPicPr preferRelativeResize="0"/>
          <p:nvPr/>
        </p:nvPicPr>
        <p:blipFill rotWithShape="1">
          <a:blip r:embed="rId4">
            <a:alphaModFix/>
          </a:blip>
          <a:srcRect/>
          <a:stretch/>
        </p:blipFill>
        <p:spPr>
          <a:xfrm>
            <a:off x="571500" y="1952625"/>
            <a:ext cx="3492549" cy="3838575"/>
          </a:xfrm>
          <a:prstGeom prst="rect">
            <a:avLst/>
          </a:prstGeom>
          <a:noFill/>
          <a:ln>
            <a:noFill/>
          </a:ln>
        </p:spPr>
      </p:pic>
      <p:pic>
        <p:nvPicPr>
          <p:cNvPr id="115" name="Google Shape;115;p15" descr="image.png"/>
          <p:cNvPicPr preferRelativeResize="0"/>
          <p:nvPr/>
        </p:nvPicPr>
        <p:blipFill rotWithShape="1">
          <a:blip r:embed="rId5">
            <a:alphaModFix/>
          </a:blip>
          <a:srcRect/>
          <a:stretch/>
        </p:blipFill>
        <p:spPr>
          <a:xfrm>
            <a:off x="4349799" y="1952625"/>
            <a:ext cx="3492549" cy="3838575"/>
          </a:xfrm>
          <a:prstGeom prst="rect">
            <a:avLst/>
          </a:prstGeom>
          <a:noFill/>
          <a:ln>
            <a:noFill/>
          </a:ln>
        </p:spPr>
      </p:pic>
      <p:pic>
        <p:nvPicPr>
          <p:cNvPr id="116" name="Google Shape;116;p15" descr="image.png"/>
          <p:cNvPicPr preferRelativeResize="0"/>
          <p:nvPr/>
        </p:nvPicPr>
        <p:blipFill rotWithShape="1">
          <a:blip r:embed="rId6">
            <a:alphaModFix/>
          </a:blip>
          <a:srcRect/>
          <a:stretch/>
        </p:blipFill>
        <p:spPr>
          <a:xfrm>
            <a:off x="8128099" y="1952625"/>
            <a:ext cx="3492549" cy="3838575"/>
          </a:xfrm>
          <a:prstGeom prst="rect">
            <a:avLst/>
          </a:prstGeom>
          <a:noFill/>
          <a:ln>
            <a:noFill/>
          </a:ln>
        </p:spPr>
      </p:pic>
      <p:pic>
        <p:nvPicPr>
          <p:cNvPr id="117" name="Google Shape;117;p15" descr="image.png"/>
          <p:cNvPicPr preferRelativeResize="0"/>
          <p:nvPr/>
        </p:nvPicPr>
        <p:blipFill rotWithShape="1">
          <a:blip r:embed="rId7">
            <a:alphaModFix/>
          </a:blip>
          <a:srcRect/>
          <a:stretch/>
        </p:blipFill>
        <p:spPr>
          <a:xfrm>
            <a:off x="914400" y="2295525"/>
            <a:ext cx="762000" cy="762000"/>
          </a:xfrm>
          <a:prstGeom prst="rect">
            <a:avLst/>
          </a:prstGeom>
          <a:noFill/>
          <a:ln>
            <a:noFill/>
          </a:ln>
        </p:spPr>
      </p:pic>
      <p:sp>
        <p:nvSpPr>
          <p:cNvPr id="118" name="Google Shape;118;p15"/>
          <p:cNvSpPr txBox="1"/>
          <p:nvPr/>
        </p:nvSpPr>
        <p:spPr>
          <a:xfrm>
            <a:off x="914400" y="3286125"/>
            <a:ext cx="244030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0F2FE"/>
                </a:solidFill>
                <a:latin typeface="Outfit SemiBold"/>
                <a:ea typeface="Outfit SemiBold"/>
                <a:cs typeface="Outfit SemiBold"/>
                <a:sym typeface="Outfit SemiBold"/>
              </a:rPr>
              <a:t>Güvenli Doğrulama</a:t>
            </a:r>
            <a:endParaRPr/>
          </a:p>
        </p:txBody>
      </p:sp>
      <p:sp>
        <p:nvSpPr>
          <p:cNvPr id="119" name="Google Shape;119;p15"/>
          <p:cNvSpPr txBox="1"/>
          <p:nvPr/>
        </p:nvSpPr>
        <p:spPr>
          <a:xfrm>
            <a:off x="914400" y="3771900"/>
            <a:ext cx="2806749"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Outfit"/>
                <a:ea typeface="Outfit"/>
                <a:cs typeface="Outfit"/>
                <a:sym typeface="Outfit"/>
              </a:rPr>
              <a:t>Müşterilerin sisteme kaydı, T.C. kimlik numarası benzersizliği ve e-posta doğrulaması kuralları ile hatasız bir şekilde gerçekleştirilir.</a:t>
            </a:r>
            <a:endParaRPr/>
          </a:p>
        </p:txBody>
      </p:sp>
      <p:pic>
        <p:nvPicPr>
          <p:cNvPr id="120" name="Google Shape;120;p15" descr="image.png"/>
          <p:cNvPicPr preferRelativeResize="0"/>
          <p:nvPr/>
        </p:nvPicPr>
        <p:blipFill rotWithShape="1">
          <a:blip r:embed="rId8">
            <a:alphaModFix/>
          </a:blip>
          <a:srcRect/>
          <a:stretch/>
        </p:blipFill>
        <p:spPr>
          <a:xfrm>
            <a:off x="4692699" y="2295525"/>
            <a:ext cx="762000" cy="762000"/>
          </a:xfrm>
          <a:prstGeom prst="rect">
            <a:avLst/>
          </a:prstGeom>
          <a:noFill/>
          <a:ln>
            <a:noFill/>
          </a:ln>
        </p:spPr>
      </p:pic>
      <p:sp>
        <p:nvSpPr>
          <p:cNvPr id="121" name="Google Shape;121;p15"/>
          <p:cNvSpPr txBox="1"/>
          <p:nvPr/>
        </p:nvSpPr>
        <p:spPr>
          <a:xfrm>
            <a:off x="4692699" y="3286125"/>
            <a:ext cx="233029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0F2FE"/>
                </a:solidFill>
                <a:latin typeface="Outfit SemiBold"/>
                <a:ea typeface="Outfit SemiBold"/>
                <a:cs typeface="Outfit SemiBold"/>
                <a:sym typeface="Outfit SemiBold"/>
              </a:rPr>
              <a:t>Çoklu İşlem Modeli</a:t>
            </a:r>
            <a:endParaRPr/>
          </a:p>
        </p:txBody>
      </p:sp>
      <p:sp>
        <p:nvSpPr>
          <p:cNvPr id="122" name="Google Shape;122;p15"/>
          <p:cNvSpPr txBox="1"/>
          <p:nvPr/>
        </p:nvSpPr>
        <p:spPr>
          <a:xfrm>
            <a:off x="4692699" y="3771900"/>
            <a:ext cx="280674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Outfit"/>
                <a:ea typeface="Outfit"/>
                <a:cs typeface="Outfit"/>
                <a:sym typeface="Outfit"/>
              </a:rPr>
              <a:t>Her müşteri Vadesiz, Vadeli ve Kredi gibi birden fazla hesaba sahip olabilir. HAVALE, EFT, ATM ve POS gibi farklı işlem tipleri desteklenir.</a:t>
            </a:r>
            <a:endParaRPr/>
          </a:p>
        </p:txBody>
      </p:sp>
      <p:pic>
        <p:nvPicPr>
          <p:cNvPr id="123" name="Google Shape;123;p15" descr="image.png"/>
          <p:cNvPicPr preferRelativeResize="0"/>
          <p:nvPr/>
        </p:nvPicPr>
        <p:blipFill rotWithShape="1">
          <a:blip r:embed="rId9">
            <a:alphaModFix/>
          </a:blip>
          <a:srcRect/>
          <a:stretch/>
        </p:blipFill>
        <p:spPr>
          <a:xfrm>
            <a:off x="8470999" y="2295525"/>
            <a:ext cx="762000" cy="762000"/>
          </a:xfrm>
          <a:prstGeom prst="rect">
            <a:avLst/>
          </a:prstGeom>
          <a:noFill/>
          <a:ln>
            <a:noFill/>
          </a:ln>
        </p:spPr>
      </p:pic>
      <p:sp>
        <p:nvSpPr>
          <p:cNvPr id="124" name="Google Shape;124;p15"/>
          <p:cNvSpPr txBox="1"/>
          <p:nvPr/>
        </p:nvSpPr>
        <p:spPr>
          <a:xfrm>
            <a:off x="8470999" y="3286125"/>
            <a:ext cx="212026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0F2FE"/>
                </a:solidFill>
                <a:latin typeface="Outfit SemiBold"/>
                <a:ea typeface="Outfit SemiBold"/>
                <a:cs typeface="Outfit SemiBold"/>
                <a:sym typeface="Outfit SemiBold"/>
              </a:rPr>
              <a:t>Akıllı Karar Alma</a:t>
            </a:r>
            <a:endParaRPr/>
          </a:p>
        </p:txBody>
      </p:sp>
      <p:sp>
        <p:nvSpPr>
          <p:cNvPr id="125" name="Google Shape;125;p15"/>
          <p:cNvSpPr txBox="1"/>
          <p:nvPr/>
        </p:nvSpPr>
        <p:spPr>
          <a:xfrm>
            <a:off x="8470999" y="3771900"/>
            <a:ext cx="280674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Outfit"/>
                <a:ea typeface="Outfit"/>
                <a:cs typeface="Outfit"/>
                <a:sym typeface="Outfit"/>
              </a:rPr>
              <a:t>Yüksek tutarlı işlemlerde otomatik fraud (dolandırıcılık) tespiti yapılır. Kredi onay süreçleri Lojistik Regresyon ML modeli ile tahminlenir.</a:t>
            </a:r>
            <a:endParaRPr/>
          </a:p>
        </p:txBody>
      </p:sp>
      <p:pic>
        <p:nvPicPr>
          <p:cNvPr id="126" name="Google Shape;126;p15" descr="image.png"/>
          <p:cNvPicPr preferRelativeResize="0"/>
          <p:nvPr/>
        </p:nvPicPr>
        <p:blipFill rotWithShape="1">
          <a:blip r:embed="rId10">
            <a:alphaModFix/>
          </a:blip>
          <a:srcRect/>
          <a:stretch/>
        </p:blipFill>
        <p:spPr>
          <a:xfrm>
            <a:off x="1081087" y="2486025"/>
            <a:ext cx="428625" cy="381000"/>
          </a:xfrm>
          <a:prstGeom prst="rect">
            <a:avLst/>
          </a:prstGeom>
          <a:noFill/>
          <a:ln>
            <a:noFill/>
          </a:ln>
        </p:spPr>
      </p:pic>
      <p:pic>
        <p:nvPicPr>
          <p:cNvPr id="127" name="Google Shape;127;p15" descr="image.png"/>
          <p:cNvPicPr preferRelativeResize="0"/>
          <p:nvPr/>
        </p:nvPicPr>
        <p:blipFill rotWithShape="1">
          <a:blip r:embed="rId11">
            <a:alphaModFix/>
          </a:blip>
          <a:srcRect/>
          <a:stretch/>
        </p:blipFill>
        <p:spPr>
          <a:xfrm>
            <a:off x="4835574" y="2486025"/>
            <a:ext cx="476250" cy="381000"/>
          </a:xfrm>
          <a:prstGeom prst="rect">
            <a:avLst/>
          </a:prstGeom>
          <a:noFill/>
          <a:ln>
            <a:noFill/>
          </a:ln>
        </p:spPr>
      </p:pic>
      <p:pic>
        <p:nvPicPr>
          <p:cNvPr id="128" name="Google Shape;128;p15" descr="image.png"/>
          <p:cNvPicPr preferRelativeResize="0"/>
          <p:nvPr/>
        </p:nvPicPr>
        <p:blipFill rotWithShape="1">
          <a:blip r:embed="rId12">
            <a:alphaModFix/>
          </a:blip>
          <a:srcRect/>
          <a:stretch/>
        </p:blipFill>
        <p:spPr>
          <a:xfrm>
            <a:off x="8613874" y="2486025"/>
            <a:ext cx="476250" cy="381000"/>
          </a:xfrm>
          <a:prstGeom prst="rect">
            <a:avLst/>
          </a:prstGeom>
          <a:noFill/>
          <a:ln>
            <a:noFill/>
          </a:ln>
        </p:spPr>
      </p:pic>
      <p:sp>
        <p:nvSpPr>
          <p:cNvPr id="129" name="Google Shape;129;p15"/>
          <p:cNvSpPr txBox="1"/>
          <p:nvPr/>
        </p:nvSpPr>
        <p:spPr>
          <a:xfrm>
            <a:off x="571500" y="571500"/>
            <a:ext cx="1160145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38BDF8"/>
                </a:solidFill>
                <a:latin typeface="Outfit SemiBold"/>
                <a:ea typeface="Outfit SemiBold"/>
                <a:cs typeface="Outfit SemiBold"/>
                <a:sym typeface="Outfit SemiBold"/>
              </a:rPr>
              <a:t>Temel İş Gereksinimleri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2239"/>
        </a:solidFill>
        <a:effectLst/>
      </p:bgPr>
    </p:bg>
    <p:spTree>
      <p:nvGrpSpPr>
        <p:cNvPr id="1" name="">
          <a:extLst>
            <a:ext uri="{FF2B5EF4-FFF2-40B4-BE49-F238E27FC236}">
              <a16:creationId xmlns:a16="http://schemas.microsoft.com/office/drawing/2014/main" id="{12614C64-2843-3402-C0F5-90C3F095CF56}"/>
            </a:ext>
          </a:extLst>
        </p:cNvPr>
        <p:cNvGrpSpPr/>
        <p:nvPr/>
      </p:nvGrpSpPr>
      <p:grpSpPr>
        <a:xfrm>
          <a:off x="0" y="0"/>
          <a:ext cx="0" cy="0"/>
          <a:chOff x="0" y="0"/>
          <a:chExt cx="0" cy="0"/>
        </a:xfrm>
      </p:grpSpPr>
      <p:sp>
        <p:nvSpPr>
          <p:cNvPr id="11" name="Text 8">
            <a:extLst>
              <a:ext uri="{FF2B5EF4-FFF2-40B4-BE49-F238E27FC236}">
                <a16:creationId xmlns:a16="http://schemas.microsoft.com/office/drawing/2014/main" id="{5D5E1EB4-5153-0C74-5805-0E2E2BBE2046}"/>
              </a:ext>
            </a:extLst>
          </p:cNvPr>
          <p:cNvSpPr/>
          <p:nvPr/>
        </p:nvSpPr>
        <p:spPr>
          <a:xfrm>
            <a:off x="664340" y="4160520"/>
            <a:ext cx="310896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 name="Image 1" descr="er.png">
            <a:extLst>
              <a:ext uri="{FF2B5EF4-FFF2-40B4-BE49-F238E27FC236}">
                <a16:creationId xmlns:a16="http://schemas.microsoft.com/office/drawing/2014/main" id="{ED08A9EE-5203-7CA6-7ADE-A64FA71E866E}"/>
              </a:ext>
            </a:extLst>
          </p:cNvPr>
          <p:cNvPicPr>
            <a:picLocks noChangeAspect="1"/>
          </p:cNvPicPr>
          <p:nvPr/>
        </p:nvPicPr>
        <p:blipFill>
          <a:blip r:embed="rId3"/>
          <a:stretch>
            <a:fillRect/>
          </a:stretch>
        </p:blipFill>
        <p:spPr>
          <a:xfrm>
            <a:off x="241005" y="1080637"/>
            <a:ext cx="9129137" cy="5241505"/>
          </a:xfrm>
          <a:prstGeom prst="rect">
            <a:avLst/>
          </a:prstGeom>
        </p:spPr>
      </p:pic>
      <p:sp>
        <p:nvSpPr>
          <p:cNvPr id="4" name="TextBox 3">
            <a:extLst>
              <a:ext uri="{FF2B5EF4-FFF2-40B4-BE49-F238E27FC236}">
                <a16:creationId xmlns:a16="http://schemas.microsoft.com/office/drawing/2014/main" id="{AAFF6FFB-C2B8-F885-586B-C3CCC6835046}"/>
              </a:ext>
            </a:extLst>
          </p:cNvPr>
          <p:cNvSpPr txBox="1"/>
          <p:nvPr/>
        </p:nvSpPr>
        <p:spPr>
          <a:xfrm>
            <a:off x="439788" y="419495"/>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Georgia" pitchFamily="34" charset="0"/>
                <a:ea typeface="Georgia" pitchFamily="34" charset="-122"/>
                <a:cs typeface="Georgia" pitchFamily="34" charset="-120"/>
              </a:rPr>
              <a:t>ER </a:t>
            </a:r>
            <a:r>
              <a:rPr kumimoji="0" lang="en-US" sz="2400" b="1" i="0" u="none" strike="noStrike" kern="1200" cap="none" spc="0" normalizeH="0" baseline="0" noProof="0" dirty="0" err="1">
                <a:ln>
                  <a:noFill/>
                </a:ln>
                <a:solidFill>
                  <a:schemeClr val="bg1"/>
                </a:solidFill>
                <a:effectLst/>
                <a:uLnTx/>
                <a:uFillTx/>
                <a:latin typeface="Georgia" pitchFamily="34" charset="0"/>
                <a:ea typeface="Georgia" pitchFamily="34" charset="-122"/>
                <a:cs typeface="Georgia" pitchFamily="34" charset="-120"/>
              </a:rPr>
              <a:t>Diyagramı</a:t>
            </a:r>
            <a:r>
              <a:rPr kumimoji="0" lang="en-US" sz="2400" b="1" i="0" u="none" strike="noStrike" kern="1200" cap="none" spc="0" normalizeH="0" baseline="0" noProof="0" dirty="0">
                <a:ln>
                  <a:noFill/>
                </a:ln>
                <a:solidFill>
                  <a:schemeClr val="bg1"/>
                </a:solidFill>
                <a:effectLst/>
                <a:uLnTx/>
                <a:uFillTx/>
                <a:latin typeface="Georgia" pitchFamily="34" charset="0"/>
                <a:ea typeface="Georgia" pitchFamily="34" charset="-122"/>
                <a:cs typeface="Georgia" pitchFamily="34" charset="-120"/>
              </a:rPr>
              <a:t> </a:t>
            </a:r>
            <a:r>
              <a:rPr kumimoji="0" lang="en-US" sz="2400" b="1" i="0" u="none" strike="noStrike" kern="1200" cap="none" spc="0" normalizeH="0" baseline="0" noProof="0" dirty="0" err="1">
                <a:ln>
                  <a:noFill/>
                </a:ln>
                <a:solidFill>
                  <a:schemeClr val="bg1"/>
                </a:solidFill>
                <a:effectLst/>
                <a:uLnTx/>
                <a:uFillTx/>
                <a:latin typeface="Georgia" pitchFamily="34" charset="0"/>
                <a:ea typeface="Georgia" pitchFamily="34" charset="-122"/>
                <a:cs typeface="Georgia" pitchFamily="34" charset="-120"/>
              </a:rPr>
              <a:t>ve</a:t>
            </a:r>
            <a:r>
              <a:rPr kumimoji="0" lang="en-US" sz="2400" b="1" i="0" u="none" strike="noStrike" kern="1200" cap="none" spc="0" normalizeH="0" baseline="0" noProof="0" dirty="0">
                <a:ln>
                  <a:noFill/>
                </a:ln>
                <a:solidFill>
                  <a:schemeClr val="bg1"/>
                </a:solidFill>
                <a:effectLst/>
                <a:uLnTx/>
                <a:uFillTx/>
                <a:latin typeface="Georgia" pitchFamily="34" charset="0"/>
                <a:ea typeface="Georgia" pitchFamily="34" charset="-122"/>
                <a:cs typeface="Georgia" pitchFamily="34" charset="-120"/>
              </a:rPr>
              <a:t> </a:t>
            </a:r>
            <a:r>
              <a:rPr kumimoji="0" lang="en-US" sz="2400" b="1" i="0" u="none" strike="noStrike" kern="1200" cap="none" spc="0" normalizeH="0" baseline="0" noProof="0" dirty="0" err="1">
                <a:ln>
                  <a:noFill/>
                </a:ln>
                <a:solidFill>
                  <a:schemeClr val="bg1"/>
                </a:solidFill>
                <a:effectLst/>
                <a:uLnTx/>
                <a:uFillTx/>
                <a:latin typeface="Georgia" pitchFamily="34" charset="0"/>
                <a:ea typeface="Georgia" pitchFamily="34" charset="-122"/>
                <a:cs typeface="Georgia" pitchFamily="34" charset="-120"/>
              </a:rPr>
              <a:t>İlişkiler</a:t>
            </a:r>
            <a:endParaRPr kumimoji="0" lang="en-US" sz="2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Shape 4">
            <a:extLst>
              <a:ext uri="{FF2B5EF4-FFF2-40B4-BE49-F238E27FC236}">
                <a16:creationId xmlns:a16="http://schemas.microsoft.com/office/drawing/2014/main" id="{418CB191-9681-2A75-1CCA-7FF014BFFA29}"/>
              </a:ext>
            </a:extLst>
          </p:cNvPr>
          <p:cNvSpPr/>
          <p:nvPr/>
        </p:nvSpPr>
        <p:spPr>
          <a:xfrm>
            <a:off x="9504527" y="1769428"/>
            <a:ext cx="2545859" cy="3869052"/>
          </a:xfrm>
          <a:prstGeom prst="roundRect">
            <a:avLst>
              <a:gd name="adj" fmla="val 2516"/>
            </a:avLst>
          </a:prstGeom>
          <a:solidFill>
            <a:schemeClr val="bg1"/>
          </a:solidFill>
          <a:ln w="12700">
            <a:solidFill>
              <a:srgbClr val="E2E8F0"/>
            </a:solidFill>
            <a:prstDash val="solid"/>
          </a:ln>
          <a:effectLst>
            <a:outerShdw blurRad="114300" dist="38100" dir="5400000" algn="bl" rotWithShape="0">
              <a:srgbClr val="0B2239">
                <a:alpha val="12000"/>
              </a:srgbClr>
            </a:outerShdw>
          </a:effectLst>
        </p:spPr>
        <p:txBody>
          <a:bodyPr/>
          <a:lstStyle/>
          <a:p>
            <a:pPr marL="342900" lvl="0" indent="-342900">
              <a:spcAft>
                <a:spcPts val="800"/>
              </a:spcAft>
              <a:buClrTx/>
              <a:buSzPct val="100000"/>
              <a:buFontTx/>
              <a:buChar char="•"/>
              <a:defRPr/>
            </a:pPr>
            <a:endParaRPr lang="tr-TR" kern="1200" dirty="0">
              <a:solidFill>
                <a:srgbClr val="0F172A"/>
              </a:solidFill>
              <a:latin typeface="Calibri" pitchFamily="34" charset="0"/>
              <a:ea typeface="Calibri" pitchFamily="34" charset="-122"/>
              <a:cs typeface="Calibri" pitchFamily="34" charset="-120"/>
            </a:endParaRPr>
          </a:p>
          <a:p>
            <a:pPr algn="ctr">
              <a:spcAft>
                <a:spcPts val="800"/>
              </a:spcAft>
              <a:buClrTx/>
              <a:buSzPct val="100000"/>
              <a:defRPr/>
            </a:pPr>
            <a:r>
              <a:rPr lang="en-US" b="1" kern="1200" dirty="0" err="1">
                <a:solidFill>
                  <a:srgbClr val="0E9384"/>
                </a:solidFill>
                <a:latin typeface="Georgia" pitchFamily="34" charset="0"/>
                <a:ea typeface="Georgia" pitchFamily="34" charset="-122"/>
                <a:cs typeface="Georgia" pitchFamily="34" charset="-120"/>
              </a:rPr>
              <a:t>İlişki</a:t>
            </a:r>
            <a:r>
              <a:rPr lang="en-US" b="1" kern="1200" dirty="0">
                <a:solidFill>
                  <a:srgbClr val="0E9384"/>
                </a:solidFill>
                <a:latin typeface="Georgia" pitchFamily="34" charset="0"/>
                <a:ea typeface="Georgia" pitchFamily="34" charset="-122"/>
                <a:cs typeface="Georgia" pitchFamily="34" charset="-120"/>
              </a:rPr>
              <a:t> </a:t>
            </a:r>
            <a:r>
              <a:rPr lang="en-US" b="1" kern="1200" dirty="0" err="1">
                <a:solidFill>
                  <a:srgbClr val="0E9384"/>
                </a:solidFill>
                <a:latin typeface="Georgia" pitchFamily="34" charset="0"/>
                <a:ea typeface="Georgia" pitchFamily="34" charset="-122"/>
                <a:cs typeface="Georgia" pitchFamily="34" charset="-120"/>
              </a:rPr>
              <a:t>Türleri</a:t>
            </a:r>
            <a:endParaRPr lang="tr-TR" kern="1200" dirty="0">
              <a:solidFill>
                <a:srgbClr val="0F172A"/>
              </a:solidFill>
              <a:latin typeface="Calibri" pitchFamily="34" charset="0"/>
              <a:ea typeface="Calibri" pitchFamily="34" charset="-122"/>
              <a:cs typeface="Calibri" pitchFamily="34" charset="-120"/>
            </a:endParaRPr>
          </a:p>
          <a:p>
            <a:pPr marL="342900" lvl="0" indent="-342900">
              <a:spcAft>
                <a:spcPts val="800"/>
              </a:spcAft>
              <a:buClrTx/>
              <a:buSzPct val="100000"/>
              <a:buFontTx/>
              <a:buChar char="•"/>
              <a:defRPr/>
            </a:pPr>
            <a:endParaRPr lang="tr-TR" kern="1200" dirty="0">
              <a:solidFill>
                <a:srgbClr val="0F172A"/>
              </a:solidFill>
              <a:latin typeface="Calibri" pitchFamily="34" charset="0"/>
              <a:ea typeface="Calibri" pitchFamily="34" charset="-122"/>
              <a:cs typeface="Calibri" pitchFamily="34" charset="-120"/>
            </a:endParaRPr>
          </a:p>
          <a:p>
            <a:pPr marL="342900" lvl="0" indent="-342900">
              <a:spcAft>
                <a:spcPts val="800"/>
              </a:spcAft>
              <a:buClrTx/>
              <a:buSzPct val="100000"/>
              <a:buFontTx/>
              <a:buChar char="•"/>
              <a:defRPr/>
            </a:pPr>
            <a:r>
              <a:rPr lang="en-US" sz="1200" kern="1200" dirty="0" err="1">
                <a:solidFill>
                  <a:srgbClr val="0F172A"/>
                </a:solidFill>
                <a:latin typeface="Calibri" pitchFamily="34" charset="0"/>
                <a:ea typeface="Calibri" pitchFamily="34" charset="-122"/>
                <a:cs typeface="Calibri" pitchFamily="34" charset="-120"/>
              </a:rPr>
              <a:t>Müşteri</a:t>
            </a:r>
            <a:r>
              <a:rPr lang="en-US" sz="1200" kern="1200" dirty="0">
                <a:solidFill>
                  <a:srgbClr val="0F172A"/>
                </a:solidFill>
                <a:latin typeface="Calibri" pitchFamily="34" charset="0"/>
                <a:ea typeface="Calibri" pitchFamily="34" charset="-122"/>
                <a:cs typeface="Calibri" pitchFamily="34" charset="-120"/>
              </a:rPr>
              <a:t> → </a:t>
            </a:r>
            <a:r>
              <a:rPr lang="en-US" sz="1200" kern="1200" dirty="0" err="1">
                <a:solidFill>
                  <a:srgbClr val="0F172A"/>
                </a:solidFill>
                <a:latin typeface="Calibri" pitchFamily="34" charset="0"/>
                <a:ea typeface="Calibri" pitchFamily="34" charset="-122"/>
                <a:cs typeface="Calibri" pitchFamily="34" charset="-120"/>
              </a:rPr>
              <a:t>Hesap</a:t>
            </a:r>
            <a:r>
              <a:rPr lang="en-US" sz="1200" kern="1200" dirty="0">
                <a:solidFill>
                  <a:srgbClr val="0F172A"/>
                </a:solidFill>
                <a:latin typeface="Calibri" pitchFamily="34" charset="0"/>
                <a:ea typeface="Calibri" pitchFamily="34" charset="-122"/>
                <a:cs typeface="Calibri" pitchFamily="34" charset="-120"/>
              </a:rPr>
              <a:t>  (1:N)</a:t>
            </a:r>
            <a:endParaRPr lang="en-US" sz="1200" kern="1200" dirty="0">
              <a:solidFill>
                <a:prstClr val="black"/>
              </a:solidFill>
              <a:latin typeface="Calibri" panose="020F0502020204030204"/>
            </a:endParaRPr>
          </a:p>
          <a:p>
            <a:pPr marL="342900" lvl="0" indent="-342900">
              <a:spcAft>
                <a:spcPts val="800"/>
              </a:spcAft>
              <a:buClrTx/>
              <a:buSzPct val="100000"/>
              <a:buFontTx/>
              <a:buChar char="•"/>
              <a:defRPr/>
            </a:pPr>
            <a:r>
              <a:rPr lang="en-US" sz="1200" kern="1200" dirty="0" err="1">
                <a:solidFill>
                  <a:srgbClr val="0F172A"/>
                </a:solidFill>
                <a:latin typeface="Calibri" pitchFamily="34" charset="0"/>
                <a:ea typeface="Calibri" pitchFamily="34" charset="-122"/>
                <a:cs typeface="Calibri" pitchFamily="34" charset="-120"/>
              </a:rPr>
              <a:t>Hesap</a:t>
            </a:r>
            <a:r>
              <a:rPr lang="en-US" sz="1200" kern="1200" dirty="0">
                <a:solidFill>
                  <a:srgbClr val="0F172A"/>
                </a:solidFill>
                <a:latin typeface="Calibri" pitchFamily="34" charset="0"/>
                <a:ea typeface="Calibri" pitchFamily="34" charset="-122"/>
                <a:cs typeface="Calibri" pitchFamily="34" charset="-120"/>
              </a:rPr>
              <a:t> → </a:t>
            </a:r>
            <a:r>
              <a:rPr lang="en-US" sz="1200" kern="1200" dirty="0" err="1">
                <a:solidFill>
                  <a:srgbClr val="0F172A"/>
                </a:solidFill>
                <a:latin typeface="Calibri" pitchFamily="34" charset="0"/>
                <a:ea typeface="Calibri" pitchFamily="34" charset="-122"/>
                <a:cs typeface="Calibri" pitchFamily="34" charset="-120"/>
              </a:rPr>
              <a:t>İşlem</a:t>
            </a:r>
            <a:r>
              <a:rPr lang="en-US" sz="1200" kern="1200" dirty="0">
                <a:solidFill>
                  <a:srgbClr val="0F172A"/>
                </a:solidFill>
                <a:latin typeface="Calibri" pitchFamily="34" charset="0"/>
                <a:ea typeface="Calibri" pitchFamily="34" charset="-122"/>
                <a:cs typeface="Calibri" pitchFamily="34" charset="-120"/>
              </a:rPr>
              <a:t>  (1:N)</a:t>
            </a:r>
            <a:endParaRPr lang="en-US" sz="1200" kern="1200" dirty="0">
              <a:solidFill>
                <a:prstClr val="black"/>
              </a:solidFill>
              <a:latin typeface="Calibri" panose="020F0502020204030204"/>
            </a:endParaRPr>
          </a:p>
          <a:p>
            <a:pPr marL="342900" lvl="0" indent="-342900">
              <a:spcAft>
                <a:spcPts val="800"/>
              </a:spcAft>
              <a:buClrTx/>
              <a:buSzPct val="100000"/>
              <a:buFontTx/>
              <a:buChar char="•"/>
              <a:defRPr/>
            </a:pPr>
            <a:r>
              <a:rPr lang="en-US" sz="1200" kern="1200" dirty="0" err="1">
                <a:solidFill>
                  <a:srgbClr val="0F172A"/>
                </a:solidFill>
                <a:latin typeface="Calibri" pitchFamily="34" charset="0"/>
                <a:ea typeface="Calibri" pitchFamily="34" charset="-122"/>
                <a:cs typeface="Calibri" pitchFamily="34" charset="-120"/>
              </a:rPr>
              <a:t>Müşteri</a:t>
            </a:r>
            <a:r>
              <a:rPr lang="en-US" sz="1200" kern="1200" dirty="0">
                <a:solidFill>
                  <a:srgbClr val="0F172A"/>
                </a:solidFill>
                <a:latin typeface="Calibri" pitchFamily="34" charset="0"/>
                <a:ea typeface="Calibri" pitchFamily="34" charset="-122"/>
                <a:cs typeface="Calibri" pitchFamily="34" charset="-120"/>
              </a:rPr>
              <a:t> → </a:t>
            </a:r>
            <a:r>
              <a:rPr lang="en-US" sz="1200" kern="1200" dirty="0" err="1">
                <a:solidFill>
                  <a:srgbClr val="0F172A"/>
                </a:solidFill>
                <a:latin typeface="Calibri" pitchFamily="34" charset="0"/>
                <a:ea typeface="Calibri" pitchFamily="34" charset="-122"/>
                <a:cs typeface="Calibri" pitchFamily="34" charset="-120"/>
              </a:rPr>
              <a:t>Kredi_Başvuru</a:t>
            </a:r>
            <a:r>
              <a:rPr lang="en-US" sz="1200" kern="1200" dirty="0">
                <a:solidFill>
                  <a:srgbClr val="0F172A"/>
                </a:solidFill>
                <a:latin typeface="Calibri" pitchFamily="34" charset="0"/>
                <a:ea typeface="Calibri" pitchFamily="34" charset="-122"/>
                <a:cs typeface="Calibri" pitchFamily="34" charset="-120"/>
              </a:rPr>
              <a:t>  (1:N)</a:t>
            </a:r>
            <a:endParaRPr lang="en-US" sz="1200" kern="1200" dirty="0">
              <a:solidFill>
                <a:prstClr val="black"/>
              </a:solidFill>
              <a:latin typeface="Calibri" panose="020F0502020204030204"/>
            </a:endParaRPr>
          </a:p>
          <a:p>
            <a:pPr marL="342900" lvl="0" indent="-342900">
              <a:spcAft>
                <a:spcPts val="800"/>
              </a:spcAft>
              <a:buClrTx/>
              <a:buSzPct val="100000"/>
              <a:buFontTx/>
              <a:buChar char="•"/>
              <a:defRPr/>
            </a:pPr>
            <a:r>
              <a:rPr lang="en-US" sz="1200" kern="1200" dirty="0" err="1">
                <a:solidFill>
                  <a:srgbClr val="0F172A"/>
                </a:solidFill>
                <a:latin typeface="Calibri" pitchFamily="34" charset="0"/>
                <a:ea typeface="Calibri" pitchFamily="34" charset="-122"/>
                <a:cs typeface="Calibri" pitchFamily="34" charset="-120"/>
              </a:rPr>
              <a:t>Müşteri</a:t>
            </a:r>
            <a:r>
              <a:rPr lang="en-US" sz="1200" kern="1200" dirty="0">
                <a:solidFill>
                  <a:srgbClr val="0F172A"/>
                </a:solidFill>
                <a:latin typeface="Calibri" pitchFamily="34" charset="0"/>
                <a:ea typeface="Calibri" pitchFamily="34" charset="-122"/>
                <a:cs typeface="Calibri" pitchFamily="34" charset="-120"/>
              </a:rPr>
              <a:t> → Kredi_Skoru  (1:N)</a:t>
            </a:r>
            <a:endParaRPr lang="en-US" sz="1200" kern="1200" dirty="0">
              <a:solidFill>
                <a:prstClr val="black"/>
              </a:solidFill>
              <a:latin typeface="Calibri" panose="020F0502020204030204"/>
            </a:endParaRPr>
          </a:p>
          <a:p>
            <a:pPr marL="342900" lvl="0" indent="-342900">
              <a:spcAft>
                <a:spcPts val="800"/>
              </a:spcAft>
              <a:buClrTx/>
              <a:buSzPct val="100000"/>
              <a:buFontTx/>
              <a:buChar char="•"/>
              <a:defRPr/>
            </a:pPr>
            <a:r>
              <a:rPr lang="en-US" sz="1200" kern="1200" dirty="0" err="1">
                <a:solidFill>
                  <a:srgbClr val="0F172A"/>
                </a:solidFill>
                <a:latin typeface="Calibri" pitchFamily="34" charset="0"/>
                <a:ea typeface="Calibri" pitchFamily="34" charset="-122"/>
                <a:cs typeface="Calibri" pitchFamily="34" charset="-120"/>
              </a:rPr>
              <a:t>İşlem</a:t>
            </a:r>
            <a:r>
              <a:rPr lang="en-US" sz="1200" kern="1200" dirty="0">
                <a:solidFill>
                  <a:srgbClr val="0F172A"/>
                </a:solidFill>
                <a:latin typeface="Calibri" pitchFamily="34" charset="0"/>
                <a:ea typeface="Calibri" pitchFamily="34" charset="-122"/>
                <a:cs typeface="Calibri" pitchFamily="34" charset="-120"/>
              </a:rPr>
              <a:t> → Fraud_Log  (1:1)</a:t>
            </a:r>
            <a:endParaRPr lang="en-US" sz="1200" kern="1200" dirty="0">
              <a:solidFill>
                <a:prstClr val="black"/>
              </a:solidFill>
              <a:latin typeface="Calibri" panose="020F0502020204030204"/>
            </a:endParaRPr>
          </a:p>
          <a:p>
            <a:pPr marL="342900" lvl="0" indent="-342900">
              <a:spcAft>
                <a:spcPts val="800"/>
              </a:spcAft>
              <a:buClrTx/>
              <a:buSzPct val="100000"/>
              <a:buFontTx/>
              <a:buChar char="•"/>
              <a:defRPr/>
            </a:pPr>
            <a:r>
              <a:rPr lang="en-US" sz="1200" kern="1200" dirty="0" err="1">
                <a:solidFill>
                  <a:srgbClr val="0F172A"/>
                </a:solidFill>
                <a:latin typeface="Calibri" pitchFamily="34" charset="0"/>
                <a:ea typeface="Calibri" pitchFamily="34" charset="-122"/>
                <a:cs typeface="Calibri" pitchFamily="34" charset="-120"/>
              </a:rPr>
              <a:t>Başvuru</a:t>
            </a:r>
            <a:r>
              <a:rPr lang="en-US" sz="1200" kern="1200" dirty="0">
                <a:solidFill>
                  <a:srgbClr val="0F172A"/>
                </a:solidFill>
                <a:latin typeface="Calibri" pitchFamily="34" charset="0"/>
                <a:ea typeface="Calibri" pitchFamily="34" charset="-122"/>
                <a:cs typeface="Calibri" pitchFamily="34" charset="-120"/>
              </a:rPr>
              <a:t> → </a:t>
            </a:r>
            <a:r>
              <a:rPr lang="en-US" sz="1200" kern="1200" dirty="0" err="1">
                <a:solidFill>
                  <a:srgbClr val="0F172A"/>
                </a:solidFill>
                <a:latin typeface="Calibri" pitchFamily="34" charset="0"/>
                <a:ea typeface="Calibri" pitchFamily="34" charset="-122"/>
                <a:cs typeface="Calibri" pitchFamily="34" charset="-120"/>
              </a:rPr>
              <a:t>ML_Sonuç</a:t>
            </a:r>
            <a:r>
              <a:rPr lang="en-US" sz="1200" kern="1200" dirty="0">
                <a:solidFill>
                  <a:srgbClr val="0F172A"/>
                </a:solidFill>
                <a:latin typeface="Calibri" pitchFamily="34" charset="0"/>
                <a:ea typeface="Calibri" pitchFamily="34" charset="-122"/>
                <a:cs typeface="Calibri" pitchFamily="34" charset="-120"/>
              </a:rPr>
              <a:t>  (1:N)</a:t>
            </a:r>
            <a:endParaRPr lang="en-US" sz="1200" kern="1200" dirty="0">
              <a:solidFill>
                <a:prstClr val="black"/>
              </a:solidFill>
              <a:latin typeface="Calibri" panose="020F0502020204030204"/>
            </a:endParaRPr>
          </a:p>
        </p:txBody>
      </p:sp>
    </p:spTree>
    <p:extLst>
      <p:ext uri="{BB962C8B-B14F-4D97-AF65-F5344CB8AC3E}">
        <p14:creationId xmlns:p14="http://schemas.microsoft.com/office/powerpoint/2010/main" val="1584439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3"/>
        <p:cNvGrpSpPr/>
        <p:nvPr/>
      </p:nvGrpSpPr>
      <p:grpSpPr>
        <a:xfrm>
          <a:off x="0" y="0"/>
          <a:ext cx="0" cy="0"/>
          <a:chOff x="0" y="0"/>
          <a:chExt cx="0" cy="0"/>
        </a:xfrm>
      </p:grpSpPr>
      <p:pic>
        <p:nvPicPr>
          <p:cNvPr id="164" name="Google Shape;16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5" name="Google Shape;165;p17"/>
          <p:cNvSpPr txBox="1"/>
          <p:nvPr/>
        </p:nvSpPr>
        <p:spPr>
          <a:xfrm>
            <a:off x="1000125" y="1908869"/>
            <a:ext cx="10620375" cy="10228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F8FAFC"/>
                </a:solidFill>
                <a:latin typeface="Outfit"/>
                <a:ea typeface="Outfit"/>
                <a:cs typeface="Outfit"/>
                <a:sym typeface="Outfit"/>
              </a:rPr>
              <a:t>1. Normal Form (1NF) - Atomik Veri</a:t>
            </a:r>
            <a:r>
              <a:rPr lang="en-US" sz="1500" b="0" i="0" u="none" strike="noStrike" cap="none">
                <a:solidFill>
                  <a:srgbClr val="CBD5E1"/>
                </a:solidFill>
                <a:latin typeface="Outfit"/>
                <a:ea typeface="Outfit"/>
                <a:cs typeface="Outfit"/>
                <a:sym typeface="Outfit"/>
              </a:rPr>
              <a:t> Tüm tablolarda her sütun bölünemez tek bir değer taşır. Müşteri ad/soyad ayrılmış, tekrar eden hesap grupları yeni bir 'Hesap' tablosuna taşınarak her satırın benzersiz PK (IDENTITY) ile tanımlanması sağlanmıştır.</a:t>
            </a:r>
            <a:endParaRPr/>
          </a:p>
        </p:txBody>
      </p:sp>
      <p:sp>
        <p:nvSpPr>
          <p:cNvPr id="166" name="Google Shape;166;p17"/>
          <p:cNvSpPr txBox="1"/>
          <p:nvPr/>
        </p:nvSpPr>
        <p:spPr>
          <a:xfrm>
            <a:off x="1000125" y="3217515"/>
            <a:ext cx="10620375" cy="10228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F8FAFC"/>
                </a:solidFill>
                <a:latin typeface="Outfit"/>
                <a:ea typeface="Outfit"/>
                <a:cs typeface="Outfit"/>
                <a:sym typeface="Outfit"/>
              </a:rPr>
              <a:t>2. Normal Form (2NF) - </a:t>
            </a:r>
            <a:r>
              <a:rPr lang="en-US" sz="1500" b="1" i="0" u="none" strike="noStrike" cap="none" dirty="0" err="1">
                <a:solidFill>
                  <a:srgbClr val="F8FAFC"/>
                </a:solidFill>
                <a:latin typeface="Outfit"/>
                <a:ea typeface="Outfit"/>
                <a:cs typeface="Outfit"/>
                <a:sym typeface="Outfit"/>
              </a:rPr>
              <a:t>Kısmi</a:t>
            </a:r>
            <a:r>
              <a:rPr lang="en-US" sz="1500" b="1" i="0" u="none" strike="noStrike" cap="none" dirty="0">
                <a:solidFill>
                  <a:srgbClr val="F8FAFC"/>
                </a:solidFill>
                <a:latin typeface="Outfit"/>
                <a:ea typeface="Outfit"/>
                <a:cs typeface="Outfit"/>
                <a:sym typeface="Outfit"/>
              </a:rPr>
              <a:t> </a:t>
            </a:r>
            <a:r>
              <a:rPr lang="en-US" sz="1500" b="1" i="0" u="none" strike="noStrike" cap="none" dirty="0" err="1">
                <a:solidFill>
                  <a:srgbClr val="F8FAFC"/>
                </a:solidFill>
                <a:latin typeface="Outfit"/>
                <a:ea typeface="Outfit"/>
                <a:cs typeface="Outfit"/>
                <a:sym typeface="Outfit"/>
              </a:rPr>
              <a:t>Bağımlılık</a:t>
            </a:r>
            <a:r>
              <a:rPr lang="en-US" sz="1500" b="1" i="0" u="none" strike="noStrike" cap="none" dirty="0">
                <a:solidFill>
                  <a:srgbClr val="F8FAFC"/>
                </a:solidFill>
                <a:latin typeface="Outfit"/>
                <a:ea typeface="Outfit"/>
                <a:cs typeface="Outfit"/>
                <a:sym typeface="Outfit"/>
              </a:rPr>
              <a:t> Yok</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Tüm</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tablolarda</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birincil</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anahtarlar</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tek</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sütunludur</a:t>
            </a:r>
            <a:r>
              <a:rPr lang="en-US" sz="1500" b="0" i="0" u="none" strike="noStrike" cap="none" dirty="0">
                <a:solidFill>
                  <a:srgbClr val="CBD5E1"/>
                </a:solidFill>
                <a:latin typeface="Outfit"/>
                <a:ea typeface="Outfit"/>
                <a:cs typeface="Outfit"/>
                <a:sym typeface="Outfit"/>
              </a:rPr>
              <a:t> (MusteriID, HesapID vb.). </a:t>
            </a:r>
            <a:r>
              <a:rPr lang="en-US" sz="1500" b="0" i="0" u="none" strike="noStrike" cap="none" dirty="0" err="1">
                <a:solidFill>
                  <a:srgbClr val="CBD5E1"/>
                </a:solidFill>
                <a:latin typeface="Outfit"/>
                <a:ea typeface="Outfit"/>
                <a:cs typeface="Outfit"/>
                <a:sym typeface="Outfit"/>
              </a:rPr>
              <a:t>Bileşik</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anahtar</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kullanılmadığı</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için</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kısmi</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bağımlılık</a:t>
            </a:r>
            <a:r>
              <a:rPr lang="en-US" sz="1500" b="0" i="0" u="none" strike="noStrike" cap="none" dirty="0">
                <a:solidFill>
                  <a:srgbClr val="CBD5E1"/>
                </a:solidFill>
                <a:latin typeface="Outfit"/>
                <a:ea typeface="Outfit"/>
                <a:cs typeface="Outfit"/>
                <a:sym typeface="Outfit"/>
              </a:rPr>
              <a:t> (partial dependency) </a:t>
            </a:r>
            <a:r>
              <a:rPr lang="en-US" sz="1500" b="0" i="0" u="none" strike="noStrike" cap="none" dirty="0" err="1">
                <a:solidFill>
                  <a:srgbClr val="CBD5E1"/>
                </a:solidFill>
                <a:latin typeface="Outfit"/>
                <a:ea typeface="Outfit"/>
                <a:cs typeface="Outfit"/>
                <a:sym typeface="Outfit"/>
              </a:rPr>
              <a:t>durumu</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oluşmadan</a:t>
            </a:r>
            <a:r>
              <a:rPr lang="en-US" sz="1500" b="0" i="0" u="none" strike="noStrike" cap="none" dirty="0">
                <a:solidFill>
                  <a:srgbClr val="CBD5E1"/>
                </a:solidFill>
                <a:latin typeface="Outfit"/>
                <a:ea typeface="Outfit"/>
                <a:cs typeface="Outfit"/>
                <a:sym typeface="Outfit"/>
              </a:rPr>
              <a:t> 2NF </a:t>
            </a:r>
            <a:r>
              <a:rPr lang="en-US" sz="1500" b="0" i="0" u="none" strike="noStrike" cap="none" dirty="0" err="1">
                <a:solidFill>
                  <a:srgbClr val="CBD5E1"/>
                </a:solidFill>
                <a:latin typeface="Outfit"/>
                <a:ea typeface="Outfit"/>
                <a:cs typeface="Outfit"/>
                <a:sym typeface="Outfit"/>
              </a:rPr>
              <a:t>koşulları</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doğrudan</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sağlanmıştır</a:t>
            </a:r>
            <a:r>
              <a:rPr lang="en-US" sz="1500" b="0" i="0" u="none" strike="noStrike" cap="none" dirty="0">
                <a:solidFill>
                  <a:srgbClr val="CBD5E1"/>
                </a:solidFill>
                <a:latin typeface="Outfit"/>
                <a:ea typeface="Outfit"/>
                <a:cs typeface="Outfit"/>
                <a:sym typeface="Outfit"/>
              </a:rPr>
              <a:t>.</a:t>
            </a:r>
            <a:endParaRPr dirty="0"/>
          </a:p>
        </p:txBody>
      </p:sp>
      <p:sp>
        <p:nvSpPr>
          <p:cNvPr id="167" name="Google Shape;167;p17"/>
          <p:cNvSpPr txBox="1"/>
          <p:nvPr/>
        </p:nvSpPr>
        <p:spPr>
          <a:xfrm>
            <a:off x="1000125" y="4526160"/>
            <a:ext cx="10620375" cy="10228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F8FAFC"/>
                </a:solidFill>
                <a:latin typeface="Outfit"/>
                <a:ea typeface="Outfit"/>
                <a:cs typeface="Outfit"/>
                <a:sym typeface="Outfit"/>
              </a:rPr>
              <a:t>3. Normal Form (3NF) - Geçişli </a:t>
            </a:r>
            <a:r>
              <a:rPr lang="en-US" sz="1500" b="1" i="0" u="none" strike="noStrike" cap="none" dirty="0" err="1">
                <a:solidFill>
                  <a:srgbClr val="F8FAFC"/>
                </a:solidFill>
                <a:latin typeface="Outfit"/>
                <a:ea typeface="Outfit"/>
                <a:cs typeface="Outfit"/>
                <a:sym typeface="Outfit"/>
              </a:rPr>
              <a:t>Bağımlılık</a:t>
            </a:r>
            <a:r>
              <a:rPr lang="en-US" sz="1500" b="1" i="0" u="none" strike="noStrike" cap="none" dirty="0">
                <a:solidFill>
                  <a:srgbClr val="F8FAFC"/>
                </a:solidFill>
                <a:latin typeface="Outfit"/>
                <a:ea typeface="Outfit"/>
                <a:cs typeface="Outfit"/>
                <a:sym typeface="Outfit"/>
              </a:rPr>
              <a:t> Yok</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Anahtar</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olmayan</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hiçbir</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sütun</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başka</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bir</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anahtar</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olmayan</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sütuna</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bağlı</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değildir</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Örneğin</a:t>
            </a:r>
            <a:r>
              <a:rPr lang="en-US" sz="1500" b="0" i="0" u="none" strike="noStrike" cap="none" dirty="0">
                <a:solidFill>
                  <a:srgbClr val="CBD5E1"/>
                </a:solidFill>
                <a:latin typeface="Outfit"/>
                <a:ea typeface="Outfit"/>
                <a:cs typeface="Outfit"/>
                <a:sym typeface="Outfit"/>
              </a:rPr>
              <a:t>; Kredi_Basvuru </a:t>
            </a:r>
            <a:r>
              <a:rPr lang="en-US" sz="1500" b="0" i="0" u="none" strike="noStrike" cap="none" dirty="0" err="1">
                <a:solidFill>
                  <a:srgbClr val="CBD5E1"/>
                </a:solidFill>
                <a:latin typeface="Outfit"/>
                <a:ea typeface="Outfit"/>
                <a:cs typeface="Outfit"/>
                <a:sym typeface="Outfit"/>
              </a:rPr>
              <a:t>tablosundaki</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Talep</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Edilen</a:t>
            </a:r>
            <a:r>
              <a:rPr lang="en-US" sz="1500" b="0" i="0" u="none" strike="noStrike" cap="none" dirty="0">
                <a:solidFill>
                  <a:srgbClr val="CBD5E1"/>
                </a:solidFill>
                <a:latin typeface="Outfit"/>
                <a:ea typeface="Outfit"/>
                <a:cs typeface="Outfit"/>
                <a:sym typeface="Outfit"/>
              </a:rPr>
              <a:t> Tutar', 'Vade' </a:t>
            </a:r>
            <a:r>
              <a:rPr lang="en-US" sz="1500" b="0" i="0" u="none" strike="noStrike" cap="none" dirty="0" err="1">
                <a:solidFill>
                  <a:srgbClr val="CBD5E1"/>
                </a:solidFill>
                <a:latin typeface="Outfit"/>
                <a:ea typeface="Outfit"/>
                <a:cs typeface="Outfit"/>
                <a:sym typeface="Outfit"/>
              </a:rPr>
              <a:t>ve</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Aylık</a:t>
            </a:r>
            <a:r>
              <a:rPr lang="en-US" sz="1500" b="0" i="0" u="none" strike="noStrike" cap="none" dirty="0">
                <a:solidFill>
                  <a:srgbClr val="CBD5E1"/>
                </a:solidFill>
                <a:latin typeface="Outfit"/>
                <a:ea typeface="Outfit"/>
                <a:cs typeface="Outfit"/>
                <a:sym typeface="Outfit"/>
              </a:rPr>
              <a:t> Gelir' </a:t>
            </a:r>
            <a:r>
              <a:rPr lang="en-US" sz="1500" b="0" i="0" u="none" strike="noStrike" cap="none" dirty="0" err="1">
                <a:solidFill>
                  <a:srgbClr val="CBD5E1"/>
                </a:solidFill>
                <a:latin typeface="Outfit"/>
                <a:ea typeface="Outfit"/>
                <a:cs typeface="Outfit"/>
                <a:sym typeface="Outfit"/>
              </a:rPr>
              <a:t>sütunları</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birbirinden</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tamamen</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rgbClr val="CBD5E1"/>
                </a:solidFill>
                <a:latin typeface="Outfit"/>
                <a:ea typeface="Outfit"/>
                <a:cs typeface="Outfit"/>
                <a:sym typeface="Outfit"/>
              </a:rPr>
              <a:t>bağımsızdır</a:t>
            </a:r>
            <a:r>
              <a:rPr lang="en-US" sz="1500" b="0" i="0" u="none" strike="noStrike" cap="none" dirty="0">
                <a:solidFill>
                  <a:srgbClr val="CBD5E1"/>
                </a:solidFill>
                <a:latin typeface="Outfit"/>
                <a:ea typeface="Outfit"/>
                <a:cs typeface="Outfit"/>
                <a:sym typeface="Outfit"/>
              </a:rPr>
              <a:t>.</a:t>
            </a:r>
            <a:endParaRPr dirty="0"/>
          </a:p>
        </p:txBody>
      </p:sp>
      <p:pic>
        <p:nvPicPr>
          <p:cNvPr id="168" name="Google Shape;168;p17" descr="image.png"/>
          <p:cNvPicPr preferRelativeResize="0"/>
          <p:nvPr/>
        </p:nvPicPr>
        <p:blipFill rotWithShape="1">
          <a:blip r:embed="rId4">
            <a:alphaModFix/>
          </a:blip>
          <a:srcRect/>
          <a:stretch/>
        </p:blipFill>
        <p:spPr>
          <a:xfrm>
            <a:off x="571500" y="1946969"/>
            <a:ext cx="200025" cy="247650"/>
          </a:xfrm>
          <a:prstGeom prst="rect">
            <a:avLst/>
          </a:prstGeom>
          <a:noFill/>
          <a:ln>
            <a:noFill/>
          </a:ln>
        </p:spPr>
      </p:pic>
      <p:pic>
        <p:nvPicPr>
          <p:cNvPr id="169" name="Google Shape;169;p17" descr="image.png"/>
          <p:cNvPicPr preferRelativeResize="0"/>
          <p:nvPr/>
        </p:nvPicPr>
        <p:blipFill rotWithShape="1">
          <a:blip r:embed="rId4">
            <a:alphaModFix/>
          </a:blip>
          <a:srcRect/>
          <a:stretch/>
        </p:blipFill>
        <p:spPr>
          <a:xfrm>
            <a:off x="571500" y="3255615"/>
            <a:ext cx="200025" cy="247650"/>
          </a:xfrm>
          <a:prstGeom prst="rect">
            <a:avLst/>
          </a:prstGeom>
          <a:noFill/>
          <a:ln>
            <a:noFill/>
          </a:ln>
        </p:spPr>
      </p:pic>
      <p:pic>
        <p:nvPicPr>
          <p:cNvPr id="170" name="Google Shape;170;p17" descr="image.png"/>
          <p:cNvPicPr preferRelativeResize="0"/>
          <p:nvPr/>
        </p:nvPicPr>
        <p:blipFill rotWithShape="1">
          <a:blip r:embed="rId4">
            <a:alphaModFix/>
          </a:blip>
          <a:srcRect/>
          <a:stretch/>
        </p:blipFill>
        <p:spPr>
          <a:xfrm>
            <a:off x="571500" y="4564260"/>
            <a:ext cx="200025" cy="247650"/>
          </a:xfrm>
          <a:prstGeom prst="rect">
            <a:avLst/>
          </a:prstGeom>
          <a:noFill/>
          <a:ln>
            <a:noFill/>
          </a:ln>
        </p:spPr>
      </p:pic>
      <p:sp>
        <p:nvSpPr>
          <p:cNvPr id="171" name="Google Shape;171;p17"/>
          <p:cNvSpPr txBox="1"/>
          <p:nvPr/>
        </p:nvSpPr>
        <p:spPr>
          <a:xfrm>
            <a:off x="571500" y="571500"/>
            <a:ext cx="1160145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38BDF8"/>
                </a:solidFill>
                <a:latin typeface="Outfit SemiBold"/>
                <a:ea typeface="Outfit SemiBold"/>
                <a:cs typeface="Outfit SemiBold"/>
                <a:sym typeface="Outfit SemiBold"/>
              </a:rPr>
              <a:t>Veritabanı Normalizasyonu (3NF)</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5"/>
        <p:cNvGrpSpPr/>
        <p:nvPr/>
      </p:nvGrpSpPr>
      <p:grpSpPr>
        <a:xfrm>
          <a:off x="0" y="0"/>
          <a:ext cx="0" cy="0"/>
          <a:chOff x="0" y="0"/>
          <a:chExt cx="0" cy="0"/>
        </a:xfrm>
      </p:grpSpPr>
      <p:pic>
        <p:nvPicPr>
          <p:cNvPr id="176" name="Google Shape;176;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7" name="Google Shape;177;p18"/>
          <p:cNvSpPr/>
          <p:nvPr/>
        </p:nvSpPr>
        <p:spPr>
          <a:xfrm>
            <a:off x="571500" y="1995487"/>
            <a:ext cx="11049000" cy="3752850"/>
          </a:xfrm>
          <a:prstGeom prst="roundRect">
            <a:avLst>
              <a:gd name="adj" fmla="val 0"/>
            </a:avLst>
          </a:prstGeom>
          <a:solidFill>
            <a:srgbClr val="1E293B"/>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78" name="Google Shape;178;p18"/>
          <p:cNvGraphicFramePr/>
          <p:nvPr>
            <p:extLst>
              <p:ext uri="{D42A27DB-BD31-4B8C-83A1-F6EECF244321}">
                <p14:modId xmlns:p14="http://schemas.microsoft.com/office/powerpoint/2010/main" val="1307462771"/>
              </p:ext>
            </p:extLst>
          </p:nvPr>
        </p:nvGraphicFramePr>
        <p:xfrm>
          <a:off x="571500" y="1995487"/>
          <a:ext cx="11049000" cy="3752875"/>
        </p:xfrm>
        <a:graphic>
          <a:graphicData uri="http://schemas.openxmlformats.org/drawingml/2006/table">
            <a:tbl>
              <a:tblPr firstRow="1" bandRow="1">
                <a:noFill/>
                <a:tableStyleId>{0FDE0B6C-D3BE-4681-99CD-2D6062C752BC}</a:tableStyleId>
              </a:tblPr>
              <a:tblGrid>
                <a:gridCol w="1428750">
                  <a:extLst>
                    <a:ext uri="{9D8B030D-6E8A-4147-A177-3AD203B41FA5}">
                      <a16:colId xmlns:a16="http://schemas.microsoft.com/office/drawing/2014/main" val="20000"/>
                    </a:ext>
                  </a:extLst>
                </a:gridCol>
                <a:gridCol w="1380675">
                  <a:extLst>
                    <a:ext uri="{9D8B030D-6E8A-4147-A177-3AD203B41FA5}">
                      <a16:colId xmlns:a16="http://schemas.microsoft.com/office/drawing/2014/main" val="20001"/>
                    </a:ext>
                  </a:extLst>
                </a:gridCol>
                <a:gridCol w="2037600">
                  <a:extLst>
                    <a:ext uri="{9D8B030D-6E8A-4147-A177-3AD203B41FA5}">
                      <a16:colId xmlns:a16="http://schemas.microsoft.com/office/drawing/2014/main" val="20002"/>
                    </a:ext>
                  </a:extLst>
                </a:gridCol>
                <a:gridCol w="6201975">
                  <a:extLst>
                    <a:ext uri="{9D8B030D-6E8A-4147-A177-3AD203B41FA5}">
                      <a16:colId xmlns:a16="http://schemas.microsoft.com/office/drawing/2014/main" val="20003"/>
                    </a:ext>
                  </a:extLst>
                </a:gridCol>
              </a:tblGrid>
              <a:tr h="750575">
                <a:tc>
                  <a:txBody>
                    <a:bodyPr/>
                    <a:lstStyle/>
                    <a:p>
                      <a:pPr marL="0" marR="0" lvl="0" indent="0" algn="l" rtl="0">
                        <a:spcBef>
                          <a:spcPts val="0"/>
                        </a:spcBef>
                        <a:spcAft>
                          <a:spcPts val="0"/>
                        </a:spcAft>
                        <a:buNone/>
                      </a:pPr>
                      <a:r>
                        <a:rPr lang="en-US" sz="1500" b="0" i="0" u="none" strike="noStrike" cap="none">
                          <a:solidFill>
                            <a:srgbClr val="38BDF8"/>
                          </a:solidFill>
                          <a:latin typeface="Outfit SemiBold"/>
                          <a:ea typeface="Outfit SemiBold"/>
                          <a:cs typeface="Outfit SemiBold"/>
                          <a:sym typeface="Outfit SemiBold"/>
                        </a:rPr>
                        <a:t>Tablo Adı</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500" b="0" i="0" u="none" strike="noStrike" cap="none" dirty="0" err="1">
                          <a:solidFill>
                            <a:srgbClr val="38BDF8"/>
                          </a:solidFill>
                          <a:latin typeface="Outfit SemiBold"/>
                          <a:ea typeface="Outfit SemiBold"/>
                          <a:cs typeface="Outfit SemiBold"/>
                          <a:sym typeface="Outfit SemiBold"/>
                        </a:rPr>
                        <a:t>Önemli</a:t>
                      </a:r>
                      <a:r>
                        <a:rPr lang="en-US" sz="1500" b="0" i="0" u="none" strike="noStrike" cap="none" dirty="0">
                          <a:solidFill>
                            <a:srgbClr val="38BDF8"/>
                          </a:solidFill>
                          <a:latin typeface="Outfit SemiBold"/>
                          <a:ea typeface="Outfit SemiBold"/>
                          <a:cs typeface="Outfit SemiBold"/>
                          <a:sym typeface="Outfit SemiBold"/>
                        </a:rPr>
                        <a:t> </a:t>
                      </a:r>
                      <a:r>
                        <a:rPr lang="en-US" sz="1500" b="0" i="0" u="none" strike="noStrike" cap="none" dirty="0" err="1">
                          <a:solidFill>
                            <a:srgbClr val="38BDF8"/>
                          </a:solidFill>
                          <a:latin typeface="Outfit SemiBold"/>
                          <a:ea typeface="Outfit SemiBold"/>
                          <a:cs typeface="Outfit SemiBold"/>
                          <a:sym typeface="Outfit SemiBold"/>
                        </a:rPr>
                        <a:t>Sütun</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500" b="0" i="0" u="none" strike="noStrike" cap="none">
                          <a:solidFill>
                            <a:srgbClr val="38BDF8"/>
                          </a:solidFill>
                          <a:latin typeface="Outfit SemiBold"/>
                          <a:ea typeface="Outfit SemiBold"/>
                          <a:cs typeface="Outfit SemiBold"/>
                          <a:sym typeface="Outfit SemiBold"/>
                        </a:rPr>
                        <a:t>Kısıt (Constraint) Türü</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500" b="0" i="0" u="none" strike="noStrike" cap="none" dirty="0" err="1">
                          <a:solidFill>
                            <a:srgbClr val="38BDF8"/>
                          </a:solidFill>
                          <a:latin typeface="Outfit SemiBold"/>
                          <a:ea typeface="Outfit SemiBold"/>
                          <a:cs typeface="Outfit SemiBold"/>
                          <a:sym typeface="Outfit SemiBold"/>
                        </a:rPr>
                        <a:t>İş</a:t>
                      </a:r>
                      <a:r>
                        <a:rPr lang="en-US" sz="1500" b="0" i="0" u="none" strike="noStrike" cap="none" dirty="0">
                          <a:solidFill>
                            <a:srgbClr val="38BDF8"/>
                          </a:solidFill>
                          <a:latin typeface="Outfit SemiBold"/>
                          <a:ea typeface="Outfit SemiBold"/>
                          <a:cs typeface="Outfit SemiBold"/>
                          <a:sym typeface="Outfit SemiBold"/>
                        </a:rPr>
                        <a:t> </a:t>
                      </a:r>
                      <a:r>
                        <a:rPr lang="en-US" sz="1500" b="0" i="0" u="none" strike="noStrike" cap="none" dirty="0" err="1">
                          <a:solidFill>
                            <a:srgbClr val="38BDF8"/>
                          </a:solidFill>
                          <a:latin typeface="Outfit SemiBold"/>
                          <a:ea typeface="Outfit SemiBold"/>
                          <a:cs typeface="Outfit SemiBold"/>
                          <a:sym typeface="Outfit SemiBold"/>
                        </a:rPr>
                        <a:t>Kuralı</a:t>
                      </a:r>
                      <a:r>
                        <a:rPr lang="en-US" sz="1500" b="0" i="0" u="none" strike="noStrike" cap="none" dirty="0">
                          <a:solidFill>
                            <a:srgbClr val="38BDF8"/>
                          </a:solidFill>
                          <a:latin typeface="Outfit SemiBold"/>
                          <a:ea typeface="Outfit SemiBold"/>
                          <a:cs typeface="Outfit SemiBold"/>
                          <a:sym typeface="Outfit SemiBold"/>
                        </a:rPr>
                        <a:t> </a:t>
                      </a:r>
                      <a:r>
                        <a:rPr lang="en-US" sz="1500" b="0" i="0" u="none" strike="noStrike" cap="none" dirty="0" err="1">
                          <a:solidFill>
                            <a:srgbClr val="38BDF8"/>
                          </a:solidFill>
                          <a:latin typeface="Outfit SemiBold"/>
                          <a:ea typeface="Outfit SemiBold"/>
                          <a:cs typeface="Outfit SemiBold"/>
                          <a:sym typeface="Outfit SemiBold"/>
                        </a:rPr>
                        <a:t>Açıklaması</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r h="750575">
                <a:tc>
                  <a:txBody>
                    <a:bodyPr/>
                    <a:lstStyle/>
                    <a:p>
                      <a:pPr marL="0" marR="0" lvl="0" indent="0" algn="l" rtl="0">
                        <a:spcBef>
                          <a:spcPts val="0"/>
                        </a:spcBef>
                        <a:spcAft>
                          <a:spcPts val="0"/>
                        </a:spcAft>
                        <a:buNone/>
                      </a:pPr>
                      <a:r>
                        <a:rPr lang="en-US" sz="1200" b="1" i="0" u="none" strike="noStrike" cap="none">
                          <a:solidFill>
                            <a:schemeClr val="bg1"/>
                          </a:solidFill>
                          <a:latin typeface="Outfit"/>
                          <a:ea typeface="Outfit"/>
                          <a:cs typeface="Outfit"/>
                          <a:sym typeface="Outfit"/>
                        </a:rPr>
                        <a:t>Musteri</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TCKN</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dirty="0">
                          <a:solidFill>
                            <a:schemeClr val="bg1"/>
                          </a:solidFill>
                          <a:latin typeface="Outfit"/>
                          <a:ea typeface="Outfit"/>
                          <a:cs typeface="Outfit"/>
                          <a:sym typeface="Outfit"/>
                        </a:rPr>
                        <a:t>UNIQUE, CHECK</a:t>
                      </a:r>
                      <a:endParaRPr dirty="0">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dirty="0">
                          <a:solidFill>
                            <a:schemeClr val="bg1"/>
                          </a:solidFill>
                          <a:latin typeface="Outfit"/>
                          <a:ea typeface="Outfit"/>
                          <a:cs typeface="Outfit"/>
                          <a:sym typeface="Outfit"/>
                        </a:rPr>
                        <a:t>T.C. </a:t>
                      </a:r>
                      <a:r>
                        <a:rPr lang="en-US" sz="1200" b="0" i="0" u="none" strike="noStrike" cap="none" dirty="0" err="1">
                          <a:solidFill>
                            <a:schemeClr val="bg1"/>
                          </a:solidFill>
                          <a:latin typeface="Outfit"/>
                          <a:ea typeface="Outfit"/>
                          <a:cs typeface="Outfit"/>
                          <a:sym typeface="Outfit"/>
                        </a:rPr>
                        <a:t>Kimlik</a:t>
                      </a:r>
                      <a:r>
                        <a:rPr lang="en-US" sz="1200" b="0" i="0" u="none" strike="noStrike" cap="none" dirty="0">
                          <a:solidFill>
                            <a:schemeClr val="bg1"/>
                          </a:solidFill>
                          <a:latin typeface="Outfit"/>
                          <a:ea typeface="Outfit"/>
                          <a:cs typeface="Outfit"/>
                          <a:sym typeface="Outfit"/>
                        </a:rPr>
                        <a:t> No </a:t>
                      </a:r>
                      <a:r>
                        <a:rPr lang="en-US" sz="1200" b="0" i="0" u="none" strike="noStrike" cap="none" dirty="0" err="1">
                          <a:solidFill>
                            <a:schemeClr val="bg1"/>
                          </a:solidFill>
                          <a:latin typeface="Outfit"/>
                          <a:ea typeface="Outfit"/>
                          <a:cs typeface="Outfit"/>
                          <a:sym typeface="Outfit"/>
                        </a:rPr>
                        <a:t>sistemi</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içinde</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benzersiz</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olmalı</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ve</a:t>
                      </a:r>
                      <a:r>
                        <a:rPr lang="en-US" sz="1200" b="0" i="0" u="none" strike="noStrike" cap="none" dirty="0">
                          <a:solidFill>
                            <a:schemeClr val="bg1"/>
                          </a:solidFill>
                          <a:latin typeface="Outfit"/>
                          <a:ea typeface="Outfit"/>
                          <a:cs typeface="Outfit"/>
                          <a:sym typeface="Outfit"/>
                        </a:rPr>
                        <a:t> tam 11 </a:t>
                      </a:r>
                      <a:r>
                        <a:rPr lang="en-US" sz="1200" b="0" i="0" u="none" strike="noStrike" cap="none" dirty="0" err="1">
                          <a:solidFill>
                            <a:schemeClr val="bg1"/>
                          </a:solidFill>
                          <a:latin typeface="Outfit"/>
                          <a:ea typeface="Outfit"/>
                          <a:cs typeface="Outfit"/>
                          <a:sym typeface="Outfit"/>
                        </a:rPr>
                        <a:t>karakter</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uzunluğunda</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girilmelidir</a:t>
                      </a:r>
                      <a:r>
                        <a:rPr lang="en-US" sz="1200" b="0" i="0" u="none" strike="noStrike" cap="none" dirty="0">
                          <a:solidFill>
                            <a:schemeClr val="bg1"/>
                          </a:solidFill>
                          <a:latin typeface="Outfit"/>
                          <a:ea typeface="Outfit"/>
                          <a:cs typeface="Outfit"/>
                          <a:sym typeface="Outfit"/>
                        </a:rPr>
                        <a:t>.</a:t>
                      </a:r>
                      <a:endParaRPr dirty="0">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750575">
                <a:tc>
                  <a:txBody>
                    <a:bodyPr/>
                    <a:lstStyle/>
                    <a:p>
                      <a:pPr marL="0" marR="0" lvl="0" indent="0" algn="l" rtl="0">
                        <a:spcBef>
                          <a:spcPts val="0"/>
                        </a:spcBef>
                        <a:spcAft>
                          <a:spcPts val="0"/>
                        </a:spcAft>
                        <a:buNone/>
                      </a:pPr>
                      <a:r>
                        <a:rPr lang="en-US" sz="1200" b="1" i="0" u="none" strike="noStrike" cap="none">
                          <a:solidFill>
                            <a:schemeClr val="bg1"/>
                          </a:solidFill>
                          <a:latin typeface="Outfit"/>
                          <a:ea typeface="Outfit"/>
                          <a:cs typeface="Outfit"/>
                          <a:sym typeface="Outfit"/>
                        </a:rPr>
                        <a:t>Hesap</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Bakiye</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CHECK ≥ 0</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dirty="0" err="1">
                          <a:solidFill>
                            <a:schemeClr val="bg1"/>
                          </a:solidFill>
                          <a:latin typeface="Outfit"/>
                          <a:ea typeface="Outfit"/>
                          <a:cs typeface="Outfit"/>
                          <a:sym typeface="Outfit"/>
                        </a:rPr>
                        <a:t>Hesap</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bakiyesi</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anlık</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olarak</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negatif</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bir</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değere</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düşemez</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kredi</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kartı</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hariç</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vadesiz</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hesap</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kuralı</a:t>
                      </a:r>
                      <a:r>
                        <a:rPr lang="en-US" sz="1200" b="0" i="0" u="none" strike="noStrike" cap="none" dirty="0">
                          <a:solidFill>
                            <a:schemeClr val="bg1"/>
                          </a:solidFill>
                          <a:latin typeface="Outfit"/>
                          <a:ea typeface="Outfit"/>
                          <a:cs typeface="Outfit"/>
                          <a:sym typeface="Outfit"/>
                        </a:rPr>
                        <a:t>).</a:t>
                      </a:r>
                      <a:endParaRPr dirty="0">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750575">
                <a:tc>
                  <a:txBody>
                    <a:bodyPr/>
                    <a:lstStyle/>
                    <a:p>
                      <a:pPr marL="0" marR="0" lvl="0" indent="0" algn="l" rtl="0">
                        <a:spcBef>
                          <a:spcPts val="0"/>
                        </a:spcBef>
                        <a:spcAft>
                          <a:spcPts val="0"/>
                        </a:spcAft>
                        <a:buNone/>
                      </a:pPr>
                      <a:r>
                        <a:rPr lang="en-US" sz="1200" b="1" i="0" u="none" strike="noStrike" cap="none">
                          <a:solidFill>
                            <a:schemeClr val="bg1"/>
                          </a:solidFill>
                          <a:latin typeface="Outfit"/>
                          <a:ea typeface="Outfit"/>
                          <a:cs typeface="Outfit"/>
                          <a:sym typeface="Outfit"/>
                        </a:rPr>
                        <a:t>Islem</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Tutar</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CHECK &gt; 0</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Sıfır veya negatif tutarlı (hatalı/kötü niyetli) para transferi işlemi yapılamaz.</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750575">
                <a:tc>
                  <a:txBody>
                    <a:bodyPr/>
                    <a:lstStyle/>
                    <a:p>
                      <a:pPr marL="0" marR="0" lvl="0" indent="0" algn="l" rtl="0">
                        <a:spcBef>
                          <a:spcPts val="0"/>
                        </a:spcBef>
                        <a:spcAft>
                          <a:spcPts val="0"/>
                        </a:spcAft>
                        <a:buNone/>
                      </a:pPr>
                      <a:r>
                        <a:rPr lang="en-US" sz="1200" b="1" i="0" u="none" strike="noStrike" cap="none">
                          <a:solidFill>
                            <a:schemeClr val="bg1"/>
                          </a:solidFill>
                          <a:latin typeface="Outfit"/>
                          <a:ea typeface="Outfit"/>
                          <a:cs typeface="Outfit"/>
                          <a:sym typeface="Outfit"/>
                        </a:rPr>
                        <a:t>Kredi_Basvuru</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Durum</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DEFAULT, CHECK</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dirty="0" err="1">
                          <a:solidFill>
                            <a:schemeClr val="bg1"/>
                          </a:solidFill>
                          <a:latin typeface="Outfit"/>
                          <a:ea typeface="Outfit"/>
                          <a:cs typeface="Outfit"/>
                          <a:sym typeface="Outfit"/>
                        </a:rPr>
                        <a:t>Başvuru</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durumu</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varsayılan</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olarak</a:t>
                      </a:r>
                      <a:r>
                        <a:rPr lang="en-US" sz="1200" b="0" i="0" u="none" strike="noStrike" cap="none" dirty="0">
                          <a:solidFill>
                            <a:schemeClr val="bg1"/>
                          </a:solidFill>
                          <a:latin typeface="Outfit"/>
                          <a:ea typeface="Outfit"/>
                          <a:cs typeface="Outfit"/>
                          <a:sym typeface="Outfit"/>
                        </a:rPr>
                        <a:t> 'BEKLEMEDE' </a:t>
                      </a:r>
                      <a:r>
                        <a:rPr lang="en-US" sz="1200" b="0" i="0" u="none" strike="noStrike" cap="none" dirty="0" err="1">
                          <a:solidFill>
                            <a:schemeClr val="bg1"/>
                          </a:solidFill>
                          <a:latin typeface="Outfit"/>
                          <a:ea typeface="Outfit"/>
                          <a:cs typeface="Outfit"/>
                          <a:sym typeface="Outfit"/>
                        </a:rPr>
                        <a:t>atanır</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Yalnızca</a:t>
                      </a:r>
                      <a:r>
                        <a:rPr lang="en-US" sz="1200" b="0" i="0" u="none" strike="noStrike" cap="none" dirty="0">
                          <a:solidFill>
                            <a:schemeClr val="bg1"/>
                          </a:solidFill>
                          <a:latin typeface="Outfit"/>
                          <a:ea typeface="Outfit"/>
                          <a:cs typeface="Outfit"/>
                          <a:sym typeface="Outfit"/>
                        </a:rPr>
                        <a:t> 'ONAYLANDI' </a:t>
                      </a:r>
                      <a:r>
                        <a:rPr lang="en-US" sz="1200" b="0" i="0" u="none" strike="noStrike" cap="none" dirty="0" err="1">
                          <a:solidFill>
                            <a:schemeClr val="bg1"/>
                          </a:solidFill>
                          <a:latin typeface="Outfit"/>
                          <a:ea typeface="Outfit"/>
                          <a:cs typeface="Outfit"/>
                          <a:sym typeface="Outfit"/>
                        </a:rPr>
                        <a:t>veya</a:t>
                      </a:r>
                      <a:r>
                        <a:rPr lang="en-US" sz="1200" b="0" i="0" u="none" strike="noStrike" cap="none" dirty="0">
                          <a:solidFill>
                            <a:schemeClr val="bg1"/>
                          </a:solidFill>
                          <a:latin typeface="Outfit"/>
                          <a:ea typeface="Outfit"/>
                          <a:cs typeface="Outfit"/>
                          <a:sym typeface="Outfit"/>
                        </a:rPr>
                        <a:t> 'REDDEDILDI' </a:t>
                      </a:r>
                      <a:r>
                        <a:rPr lang="en-US" sz="1200" b="0" i="0" u="none" strike="noStrike" cap="none" dirty="0" err="1">
                          <a:solidFill>
                            <a:schemeClr val="bg1"/>
                          </a:solidFill>
                          <a:latin typeface="Outfit"/>
                          <a:ea typeface="Outfit"/>
                          <a:cs typeface="Outfit"/>
                          <a:sym typeface="Outfit"/>
                        </a:rPr>
                        <a:t>değerini</a:t>
                      </a:r>
                      <a:r>
                        <a:rPr lang="en-US"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alabilir</a:t>
                      </a:r>
                      <a:r>
                        <a:rPr lang="en-US" sz="1200" b="0" i="0" u="none" strike="noStrike" cap="none" dirty="0">
                          <a:solidFill>
                            <a:schemeClr val="bg1"/>
                          </a:solidFill>
                          <a:latin typeface="Outfit"/>
                          <a:ea typeface="Outfit"/>
                          <a:cs typeface="Outfit"/>
                          <a:sym typeface="Outfit"/>
                        </a:rPr>
                        <a:t>.</a:t>
                      </a:r>
                      <a:endParaRPr dirty="0">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sp>
        <p:nvSpPr>
          <p:cNvPr id="179" name="Google Shape;179;p18"/>
          <p:cNvSpPr/>
          <p:nvPr/>
        </p:nvSpPr>
        <p:spPr>
          <a:xfrm>
            <a:off x="571500" y="2847975"/>
            <a:ext cx="14287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18"/>
          <p:cNvSpPr/>
          <p:nvPr/>
        </p:nvSpPr>
        <p:spPr>
          <a:xfrm>
            <a:off x="2000250" y="2847975"/>
            <a:ext cx="138067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8"/>
          <p:cNvSpPr/>
          <p:nvPr/>
        </p:nvSpPr>
        <p:spPr>
          <a:xfrm>
            <a:off x="3380928" y="2847975"/>
            <a:ext cx="203760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8"/>
          <p:cNvSpPr/>
          <p:nvPr/>
        </p:nvSpPr>
        <p:spPr>
          <a:xfrm>
            <a:off x="5418534" y="2847975"/>
            <a:ext cx="620196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8"/>
          <p:cNvSpPr/>
          <p:nvPr/>
        </p:nvSpPr>
        <p:spPr>
          <a:xfrm>
            <a:off x="571500" y="3619500"/>
            <a:ext cx="14287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8"/>
          <p:cNvSpPr/>
          <p:nvPr/>
        </p:nvSpPr>
        <p:spPr>
          <a:xfrm>
            <a:off x="2000250" y="3619500"/>
            <a:ext cx="138067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8"/>
          <p:cNvSpPr/>
          <p:nvPr/>
        </p:nvSpPr>
        <p:spPr>
          <a:xfrm>
            <a:off x="3380928" y="3619500"/>
            <a:ext cx="203760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8"/>
          <p:cNvSpPr/>
          <p:nvPr/>
        </p:nvSpPr>
        <p:spPr>
          <a:xfrm>
            <a:off x="5418534" y="3619500"/>
            <a:ext cx="620196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8"/>
          <p:cNvSpPr/>
          <p:nvPr/>
        </p:nvSpPr>
        <p:spPr>
          <a:xfrm>
            <a:off x="571500" y="4391025"/>
            <a:ext cx="14287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8"/>
          <p:cNvSpPr/>
          <p:nvPr/>
        </p:nvSpPr>
        <p:spPr>
          <a:xfrm>
            <a:off x="2000250" y="4391025"/>
            <a:ext cx="138067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8"/>
          <p:cNvSpPr/>
          <p:nvPr/>
        </p:nvSpPr>
        <p:spPr>
          <a:xfrm>
            <a:off x="3380928" y="4391025"/>
            <a:ext cx="203760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8"/>
          <p:cNvSpPr/>
          <p:nvPr/>
        </p:nvSpPr>
        <p:spPr>
          <a:xfrm>
            <a:off x="5418534" y="4391025"/>
            <a:ext cx="620196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8"/>
          <p:cNvSpPr/>
          <p:nvPr/>
        </p:nvSpPr>
        <p:spPr>
          <a:xfrm>
            <a:off x="571500" y="4972050"/>
            <a:ext cx="14287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18"/>
          <p:cNvSpPr/>
          <p:nvPr/>
        </p:nvSpPr>
        <p:spPr>
          <a:xfrm>
            <a:off x="2000250" y="4972050"/>
            <a:ext cx="138067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18"/>
          <p:cNvSpPr/>
          <p:nvPr/>
        </p:nvSpPr>
        <p:spPr>
          <a:xfrm>
            <a:off x="3380928" y="4972050"/>
            <a:ext cx="203760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18"/>
          <p:cNvSpPr/>
          <p:nvPr/>
        </p:nvSpPr>
        <p:spPr>
          <a:xfrm>
            <a:off x="5418534" y="4972050"/>
            <a:ext cx="620196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5" name="Google Shape;195;p18"/>
          <p:cNvSpPr txBox="1"/>
          <p:nvPr/>
        </p:nvSpPr>
        <p:spPr>
          <a:xfrm>
            <a:off x="571500" y="571500"/>
            <a:ext cx="1160145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38BDF8"/>
                </a:solidFill>
                <a:latin typeface="Outfit SemiBold"/>
                <a:ea typeface="Outfit SemiBold"/>
                <a:cs typeface="Outfit SemiBold"/>
                <a:sym typeface="Outfit SemiBold"/>
              </a:rPr>
              <a:t>Kritik Tablo ve Kısıt (Constraint) Yapıları</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9"/>
        <p:cNvGrpSpPr/>
        <p:nvPr/>
      </p:nvGrpSpPr>
      <p:grpSpPr>
        <a:xfrm>
          <a:off x="0" y="0"/>
          <a:ext cx="0" cy="0"/>
          <a:chOff x="0" y="0"/>
          <a:chExt cx="0" cy="0"/>
        </a:xfrm>
      </p:grpSpPr>
      <p:pic>
        <p:nvPicPr>
          <p:cNvPr id="200" name="Google Shape;200;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1" name="Google Shape;201;p19" descr="image.png"/>
          <p:cNvPicPr preferRelativeResize="0"/>
          <p:nvPr/>
        </p:nvPicPr>
        <p:blipFill rotWithShape="1">
          <a:blip r:embed="rId4">
            <a:alphaModFix/>
          </a:blip>
          <a:srcRect/>
          <a:stretch/>
        </p:blipFill>
        <p:spPr>
          <a:xfrm>
            <a:off x="571500" y="1785937"/>
            <a:ext cx="3492549" cy="4171950"/>
          </a:xfrm>
          <a:prstGeom prst="rect">
            <a:avLst/>
          </a:prstGeom>
          <a:noFill/>
          <a:ln>
            <a:noFill/>
          </a:ln>
        </p:spPr>
      </p:pic>
      <p:pic>
        <p:nvPicPr>
          <p:cNvPr id="202" name="Google Shape;202;p19" descr="image.png"/>
          <p:cNvPicPr preferRelativeResize="0"/>
          <p:nvPr/>
        </p:nvPicPr>
        <p:blipFill rotWithShape="1">
          <a:blip r:embed="rId5">
            <a:alphaModFix/>
          </a:blip>
          <a:srcRect/>
          <a:stretch/>
        </p:blipFill>
        <p:spPr>
          <a:xfrm>
            <a:off x="4349799" y="1785937"/>
            <a:ext cx="3492549" cy="4171950"/>
          </a:xfrm>
          <a:prstGeom prst="rect">
            <a:avLst/>
          </a:prstGeom>
          <a:noFill/>
          <a:ln>
            <a:noFill/>
          </a:ln>
        </p:spPr>
      </p:pic>
      <p:pic>
        <p:nvPicPr>
          <p:cNvPr id="203" name="Google Shape;203;p19" descr="image.png"/>
          <p:cNvPicPr preferRelativeResize="0"/>
          <p:nvPr/>
        </p:nvPicPr>
        <p:blipFill rotWithShape="1">
          <a:blip r:embed="rId6">
            <a:alphaModFix/>
          </a:blip>
          <a:srcRect/>
          <a:stretch/>
        </p:blipFill>
        <p:spPr>
          <a:xfrm>
            <a:off x="8128099" y="1785937"/>
            <a:ext cx="3492549" cy="4171950"/>
          </a:xfrm>
          <a:prstGeom prst="rect">
            <a:avLst/>
          </a:prstGeom>
          <a:noFill/>
          <a:ln>
            <a:noFill/>
          </a:ln>
        </p:spPr>
      </p:pic>
      <p:pic>
        <p:nvPicPr>
          <p:cNvPr id="204" name="Google Shape;204;p19" descr="image.png"/>
          <p:cNvPicPr preferRelativeResize="0"/>
          <p:nvPr/>
        </p:nvPicPr>
        <p:blipFill rotWithShape="1">
          <a:blip r:embed="rId7">
            <a:alphaModFix/>
          </a:blip>
          <a:srcRect/>
          <a:stretch/>
        </p:blipFill>
        <p:spPr>
          <a:xfrm>
            <a:off x="914400" y="2128837"/>
            <a:ext cx="762000" cy="762000"/>
          </a:xfrm>
          <a:prstGeom prst="rect">
            <a:avLst/>
          </a:prstGeom>
          <a:noFill/>
          <a:ln>
            <a:noFill/>
          </a:ln>
        </p:spPr>
      </p:pic>
      <p:sp>
        <p:nvSpPr>
          <p:cNvPr id="205" name="Google Shape;205;p19"/>
          <p:cNvSpPr txBox="1"/>
          <p:nvPr/>
        </p:nvSpPr>
        <p:spPr>
          <a:xfrm>
            <a:off x="914400" y="3119437"/>
            <a:ext cx="280035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0F2FE"/>
                </a:solidFill>
                <a:latin typeface="Outfit SemiBold"/>
                <a:ea typeface="Outfit SemiBold"/>
                <a:cs typeface="Outfit SemiBold"/>
                <a:sym typeface="Outfit SemiBold"/>
              </a:rPr>
              <a:t>Sanal Tablolar (Views)</a:t>
            </a:r>
            <a:endParaRPr/>
          </a:p>
        </p:txBody>
      </p:sp>
      <p:sp>
        <p:nvSpPr>
          <p:cNvPr id="206" name="Google Shape;206;p19"/>
          <p:cNvSpPr txBox="1"/>
          <p:nvPr/>
        </p:nvSpPr>
        <p:spPr>
          <a:xfrm>
            <a:off x="914400" y="3605212"/>
            <a:ext cx="280674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8BDF8"/>
                </a:solidFill>
                <a:latin typeface="Outfit SemiBold"/>
                <a:ea typeface="Outfit SemiBold"/>
                <a:cs typeface="Outfit SemiBold"/>
                <a:sym typeface="Outfit SemiBold"/>
              </a:rPr>
              <a:t>v_kredi_raporu</a:t>
            </a:r>
            <a:r>
              <a:rPr lang="en-US" sz="1500" b="0" i="0" u="none" strike="noStrike" cap="none">
                <a:solidFill>
                  <a:srgbClr val="CBD5E1"/>
                </a:solidFill>
                <a:latin typeface="Outfit"/>
                <a:ea typeface="Outfit"/>
                <a:cs typeface="Outfit"/>
                <a:sym typeface="Outfit"/>
              </a:rPr>
              <a:t> gibi view'lar, Musteri ve Kredi tablolarını birleştirerek son kullanıcı için sadeleştirilmiş ve anlık raporlama çıktıları sunar.</a:t>
            </a:r>
            <a:endParaRPr/>
          </a:p>
        </p:txBody>
      </p:sp>
      <p:pic>
        <p:nvPicPr>
          <p:cNvPr id="207" name="Google Shape;207;p19" descr="image.png"/>
          <p:cNvPicPr preferRelativeResize="0"/>
          <p:nvPr/>
        </p:nvPicPr>
        <p:blipFill rotWithShape="1">
          <a:blip r:embed="rId8">
            <a:alphaModFix/>
          </a:blip>
          <a:srcRect/>
          <a:stretch/>
        </p:blipFill>
        <p:spPr>
          <a:xfrm>
            <a:off x="4692699" y="2128837"/>
            <a:ext cx="762000" cy="762000"/>
          </a:xfrm>
          <a:prstGeom prst="rect">
            <a:avLst/>
          </a:prstGeom>
          <a:noFill/>
          <a:ln>
            <a:noFill/>
          </a:ln>
        </p:spPr>
      </p:pic>
      <p:sp>
        <p:nvSpPr>
          <p:cNvPr id="208" name="Google Shape;208;p19"/>
          <p:cNvSpPr txBox="1"/>
          <p:nvPr/>
        </p:nvSpPr>
        <p:spPr>
          <a:xfrm>
            <a:off x="4692699" y="3119437"/>
            <a:ext cx="2947087"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0F2FE"/>
                </a:solidFill>
                <a:latin typeface="Outfit SemiBold"/>
                <a:ea typeface="Outfit SemiBold"/>
                <a:cs typeface="Outfit SemiBold"/>
                <a:sym typeface="Outfit SemiBold"/>
              </a:rPr>
              <a:t>Prosedür: Skor Hesaplama</a:t>
            </a:r>
            <a:endParaRPr/>
          </a:p>
        </p:txBody>
      </p:sp>
      <p:sp>
        <p:nvSpPr>
          <p:cNvPr id="209" name="Google Shape;209;p19"/>
          <p:cNvSpPr txBox="1"/>
          <p:nvPr/>
        </p:nvSpPr>
        <p:spPr>
          <a:xfrm>
            <a:off x="4692699" y="3938587"/>
            <a:ext cx="280674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8BDF8"/>
                </a:solidFill>
                <a:latin typeface="Outfit SemiBold"/>
                <a:ea typeface="Outfit SemiBold"/>
                <a:cs typeface="Outfit SemiBold"/>
                <a:sym typeface="Outfit SemiBold"/>
              </a:rPr>
              <a:t>HesaplaKrediSkoru</a:t>
            </a:r>
            <a:r>
              <a:rPr lang="en-US" sz="1500" b="0" i="0" u="none" strike="noStrike" cap="none">
                <a:solidFill>
                  <a:srgbClr val="CBD5E1"/>
                </a:solidFill>
                <a:latin typeface="Outfit"/>
                <a:ea typeface="Outfit"/>
                <a:cs typeface="Outfit"/>
                <a:sym typeface="Outfit"/>
              </a:rPr>
              <a:t> SP'si, müşterinin toplam bakiyesi ve beyan ettiği geliri baz alarak matematiksel bir skor hesaplar ve ilgili tabloya yazar.</a:t>
            </a:r>
            <a:endParaRPr/>
          </a:p>
        </p:txBody>
      </p:sp>
      <p:pic>
        <p:nvPicPr>
          <p:cNvPr id="210" name="Google Shape;210;p19" descr="image.png"/>
          <p:cNvPicPr preferRelativeResize="0"/>
          <p:nvPr/>
        </p:nvPicPr>
        <p:blipFill rotWithShape="1">
          <a:blip r:embed="rId9">
            <a:alphaModFix/>
          </a:blip>
          <a:srcRect/>
          <a:stretch/>
        </p:blipFill>
        <p:spPr>
          <a:xfrm>
            <a:off x="8470999" y="2128837"/>
            <a:ext cx="762000" cy="762000"/>
          </a:xfrm>
          <a:prstGeom prst="rect">
            <a:avLst/>
          </a:prstGeom>
          <a:noFill/>
          <a:ln>
            <a:noFill/>
          </a:ln>
        </p:spPr>
      </p:pic>
      <p:sp>
        <p:nvSpPr>
          <p:cNvPr id="211" name="Google Shape;211;p19"/>
          <p:cNvSpPr txBox="1"/>
          <p:nvPr/>
        </p:nvSpPr>
        <p:spPr>
          <a:xfrm>
            <a:off x="8470999" y="3119437"/>
            <a:ext cx="2947087"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E0F2FE"/>
                </a:solidFill>
                <a:latin typeface="Outfit SemiBold"/>
                <a:ea typeface="Outfit SemiBold"/>
                <a:cs typeface="Outfit SemiBold"/>
                <a:sym typeface="Outfit SemiBold"/>
              </a:rPr>
              <a:t>Prosedür: İşlem Yönetimi</a:t>
            </a:r>
            <a:endParaRPr/>
          </a:p>
        </p:txBody>
      </p:sp>
      <p:sp>
        <p:nvSpPr>
          <p:cNvPr id="212" name="Google Shape;212;p19"/>
          <p:cNvSpPr txBox="1"/>
          <p:nvPr/>
        </p:nvSpPr>
        <p:spPr>
          <a:xfrm>
            <a:off x="8470999" y="3938587"/>
            <a:ext cx="2806749"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8BDF8"/>
                </a:solidFill>
                <a:latin typeface="Outfit SemiBold"/>
                <a:ea typeface="Outfit SemiBold"/>
                <a:cs typeface="Outfit SemiBold"/>
                <a:sym typeface="Outfit SemiBold"/>
              </a:rPr>
              <a:t>IslemEkle</a:t>
            </a:r>
            <a:r>
              <a:rPr lang="en-US" sz="1500" b="0" i="0" u="none" strike="noStrike" cap="none">
                <a:solidFill>
                  <a:srgbClr val="CBD5E1"/>
                </a:solidFill>
                <a:latin typeface="Outfit"/>
                <a:ea typeface="Outfit"/>
                <a:cs typeface="Outfit"/>
                <a:sym typeface="Outfit"/>
              </a:rPr>
              <a:t> SP'si, bakiye yeterlilik kontrolünü (IF-ELSE) yapar. Yetersiz bakiyede işlemi iptal eder, aksi takdirde bakiyeyi günceller.</a:t>
            </a:r>
            <a:endParaRPr/>
          </a:p>
        </p:txBody>
      </p:sp>
      <p:pic>
        <p:nvPicPr>
          <p:cNvPr id="213" name="Google Shape;213;p19" descr="image.png"/>
          <p:cNvPicPr preferRelativeResize="0"/>
          <p:nvPr/>
        </p:nvPicPr>
        <p:blipFill rotWithShape="1">
          <a:blip r:embed="rId10">
            <a:alphaModFix/>
          </a:blip>
          <a:srcRect/>
          <a:stretch/>
        </p:blipFill>
        <p:spPr>
          <a:xfrm>
            <a:off x="1104900" y="2319337"/>
            <a:ext cx="381000" cy="381000"/>
          </a:xfrm>
          <a:prstGeom prst="rect">
            <a:avLst/>
          </a:prstGeom>
          <a:noFill/>
          <a:ln>
            <a:noFill/>
          </a:ln>
        </p:spPr>
      </p:pic>
      <p:pic>
        <p:nvPicPr>
          <p:cNvPr id="214" name="Google Shape;214;p19" descr="image.png"/>
          <p:cNvPicPr preferRelativeResize="0"/>
          <p:nvPr/>
        </p:nvPicPr>
        <p:blipFill rotWithShape="1">
          <a:blip r:embed="rId11">
            <a:alphaModFix/>
          </a:blip>
          <a:srcRect/>
          <a:stretch/>
        </p:blipFill>
        <p:spPr>
          <a:xfrm>
            <a:off x="4835574" y="2319337"/>
            <a:ext cx="476250" cy="381000"/>
          </a:xfrm>
          <a:prstGeom prst="rect">
            <a:avLst/>
          </a:prstGeom>
          <a:noFill/>
          <a:ln>
            <a:noFill/>
          </a:ln>
        </p:spPr>
      </p:pic>
      <p:pic>
        <p:nvPicPr>
          <p:cNvPr id="215" name="Google Shape;215;p19" descr="image.png"/>
          <p:cNvPicPr preferRelativeResize="0"/>
          <p:nvPr/>
        </p:nvPicPr>
        <p:blipFill rotWithShape="1">
          <a:blip r:embed="rId12">
            <a:alphaModFix/>
          </a:blip>
          <a:srcRect/>
          <a:stretch/>
        </p:blipFill>
        <p:spPr>
          <a:xfrm>
            <a:off x="8637686" y="2319337"/>
            <a:ext cx="428625" cy="381000"/>
          </a:xfrm>
          <a:prstGeom prst="rect">
            <a:avLst/>
          </a:prstGeom>
          <a:noFill/>
          <a:ln>
            <a:noFill/>
          </a:ln>
        </p:spPr>
      </p:pic>
      <p:sp>
        <p:nvSpPr>
          <p:cNvPr id="216" name="Google Shape;216;p19"/>
          <p:cNvSpPr txBox="1"/>
          <p:nvPr/>
        </p:nvSpPr>
        <p:spPr>
          <a:xfrm>
            <a:off x="571500" y="571500"/>
            <a:ext cx="1160145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38BDF8"/>
                </a:solidFill>
                <a:latin typeface="Outfit SemiBold"/>
                <a:ea typeface="Outfit SemiBold"/>
                <a:cs typeface="Outfit SemiBold"/>
                <a:sym typeface="Outfit SemiBold"/>
              </a:rPr>
              <a:t>SQL Bileşenleri: Programlanabilirlik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0"/>
        <p:cNvGrpSpPr/>
        <p:nvPr/>
      </p:nvGrpSpPr>
      <p:grpSpPr>
        <a:xfrm>
          <a:off x="0" y="0"/>
          <a:ext cx="0" cy="0"/>
          <a:chOff x="0" y="0"/>
          <a:chExt cx="0" cy="0"/>
        </a:xfrm>
      </p:grpSpPr>
      <p:pic>
        <p:nvPicPr>
          <p:cNvPr id="222" name="Google Shape;222;p20" descr="image.png"/>
          <p:cNvPicPr preferRelativeResize="0"/>
          <p:nvPr/>
        </p:nvPicPr>
        <p:blipFill rotWithShape="1">
          <a:blip r:embed="rId3">
            <a:alphaModFix/>
          </a:blip>
          <a:srcRect/>
          <a:stretch/>
        </p:blipFill>
        <p:spPr>
          <a:xfrm>
            <a:off x="1524000" y="2205037"/>
            <a:ext cx="3333750" cy="3333750"/>
          </a:xfrm>
          <a:prstGeom prst="rect">
            <a:avLst/>
          </a:prstGeom>
          <a:noFill/>
          <a:ln>
            <a:noFill/>
          </a:ln>
        </p:spPr>
      </p:pic>
      <p:sp>
        <p:nvSpPr>
          <p:cNvPr id="223" name="Google Shape;223;p20"/>
          <p:cNvSpPr txBox="1"/>
          <p:nvPr/>
        </p:nvSpPr>
        <p:spPr>
          <a:xfrm>
            <a:off x="5384524" y="1473993"/>
            <a:ext cx="5500687"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E0F2FE"/>
                </a:solidFill>
                <a:latin typeface="Outfit SemiBold"/>
                <a:ea typeface="Outfit SemiBold"/>
                <a:cs typeface="Outfit SemiBold"/>
                <a:sym typeface="Outfit SemiBold"/>
              </a:rPr>
              <a:t>Olay </a:t>
            </a:r>
            <a:r>
              <a:rPr lang="en-US" sz="2100" b="0" i="0" u="none" strike="noStrike" cap="none" dirty="0" err="1">
                <a:solidFill>
                  <a:srgbClr val="E0F2FE"/>
                </a:solidFill>
                <a:latin typeface="Outfit SemiBold"/>
                <a:ea typeface="Outfit SemiBold"/>
                <a:cs typeface="Outfit SemiBold"/>
                <a:sym typeface="Outfit SemiBold"/>
              </a:rPr>
              <a:t>Güdümlü</a:t>
            </a:r>
            <a:r>
              <a:rPr lang="en-US" sz="2100" b="0" i="0" u="none" strike="noStrike" cap="none" dirty="0">
                <a:solidFill>
                  <a:srgbClr val="E0F2FE"/>
                </a:solidFill>
                <a:latin typeface="Outfit SemiBold"/>
                <a:ea typeface="Outfit SemiBold"/>
                <a:cs typeface="Outfit SemiBold"/>
                <a:sym typeface="Outfit SemiBold"/>
              </a:rPr>
              <a:t> </a:t>
            </a:r>
            <a:r>
              <a:rPr lang="en-US" sz="2100" b="0" i="0" u="none" strike="noStrike" cap="none" dirty="0" err="1">
                <a:solidFill>
                  <a:srgbClr val="E0F2FE"/>
                </a:solidFill>
                <a:latin typeface="Outfit SemiBold"/>
                <a:ea typeface="Outfit SemiBold"/>
                <a:cs typeface="Outfit SemiBold"/>
                <a:sym typeface="Outfit SemiBold"/>
              </a:rPr>
              <a:t>Otomasyon</a:t>
            </a:r>
            <a:endParaRPr dirty="0"/>
          </a:p>
        </p:txBody>
      </p:sp>
      <p:sp>
        <p:nvSpPr>
          <p:cNvPr id="224" name="Google Shape;224;p20"/>
          <p:cNvSpPr txBox="1"/>
          <p:nvPr/>
        </p:nvSpPr>
        <p:spPr>
          <a:xfrm>
            <a:off x="5384524" y="2117705"/>
            <a:ext cx="6095172"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err="1">
                <a:solidFill>
                  <a:schemeClr val="bg1"/>
                </a:solidFill>
                <a:latin typeface="Outfit"/>
                <a:ea typeface="Outfit"/>
                <a:cs typeface="Outfit"/>
                <a:sym typeface="Outfit"/>
              </a:rPr>
              <a:t>Sistemdeki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kritik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iş</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kuralları</a:t>
            </a:r>
            <a:r>
              <a:rPr lang="en-US" sz="1500" b="0" i="0" u="none" strike="noStrike" cap="none" dirty="0">
                <a:solidFill>
                  <a:schemeClr val="bg1"/>
                </a:solidFill>
                <a:latin typeface="Outfit"/>
                <a:ea typeface="Outfit"/>
                <a:cs typeface="Outfit"/>
                <a:sym typeface="Outfit"/>
              </a:rPr>
              <a:t> DML </a:t>
            </a:r>
            <a:r>
              <a:rPr lang="en-US" sz="1500" b="0" i="0" u="none" strike="noStrike" cap="none" dirty="0" err="1">
                <a:solidFill>
                  <a:schemeClr val="bg1"/>
                </a:solidFill>
                <a:latin typeface="Outfit"/>
                <a:ea typeface="Outfit"/>
                <a:cs typeface="Outfit"/>
                <a:sym typeface="Outfit"/>
              </a:rPr>
              <a:t>trigger'ları</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ile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güvence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altına</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alınmıştır</a:t>
            </a:r>
            <a:r>
              <a:rPr lang="en-US" sz="1500" b="0" i="0" u="none" strike="noStrike" cap="none" dirty="0">
                <a:solidFill>
                  <a:schemeClr val="bg1"/>
                </a:solidFill>
                <a:latin typeface="Outfit"/>
                <a:ea typeface="Outfit"/>
                <a:cs typeface="Outfit"/>
                <a:sym typeface="Outfit"/>
              </a:rPr>
              <a:t>:</a:t>
            </a:r>
            <a:endParaRPr dirty="0">
              <a:solidFill>
                <a:schemeClr val="bg1"/>
              </a:solidFill>
            </a:endParaRPr>
          </a:p>
        </p:txBody>
      </p:sp>
      <p:pic>
        <p:nvPicPr>
          <p:cNvPr id="225" name="Google Shape;225;p20" descr="image.png"/>
          <p:cNvPicPr preferRelativeResize="0"/>
          <p:nvPr/>
        </p:nvPicPr>
        <p:blipFill rotWithShape="1">
          <a:blip r:embed="rId4">
            <a:alphaModFix/>
          </a:blip>
          <a:srcRect/>
          <a:stretch/>
        </p:blipFill>
        <p:spPr>
          <a:xfrm>
            <a:off x="1562100" y="2243137"/>
            <a:ext cx="3257550" cy="3257550"/>
          </a:xfrm>
          <a:prstGeom prst="rect">
            <a:avLst/>
          </a:prstGeom>
          <a:noFill/>
          <a:ln>
            <a:noFill/>
          </a:ln>
        </p:spPr>
      </p:pic>
      <p:sp>
        <p:nvSpPr>
          <p:cNvPr id="227" name="Google Shape;227;p20"/>
          <p:cNvSpPr txBox="1"/>
          <p:nvPr/>
        </p:nvSpPr>
        <p:spPr>
          <a:xfrm>
            <a:off x="5581650" y="2748290"/>
            <a:ext cx="5967620" cy="1477328"/>
          </a:xfrm>
          <a:prstGeom prst="rect">
            <a:avLst/>
          </a:prstGeom>
          <a:noFill/>
          <a:ln>
            <a:noFill/>
          </a:ln>
        </p:spPr>
        <p:txBody>
          <a:bodyPr spcFirstLastPara="1" wrap="square" lIns="66675" tIns="0" rIns="0" bIns="0" anchor="t" anchorCtr="0">
            <a:spAutoFit/>
          </a:bodyPr>
          <a:lstStyle/>
          <a:p>
            <a:pPr marL="285750" marR="0" lvl="0" indent="-285750" algn="l" rtl="0">
              <a:lnSpc>
                <a:spcPct val="160000"/>
              </a:lnSpc>
              <a:spcBef>
                <a:spcPts val="0"/>
              </a:spcBef>
              <a:spcAft>
                <a:spcPts val="0"/>
              </a:spcAft>
              <a:buClr>
                <a:schemeClr val="bg1"/>
              </a:buClr>
              <a:buFont typeface="Arial" panose="020B0604020202020204" pitchFamily="34" charset="0"/>
              <a:buChar char="•"/>
            </a:pPr>
            <a:r>
              <a:rPr lang="en-US" sz="1500" b="1" i="0" u="none" strike="noStrike" cap="none" dirty="0" err="1">
                <a:solidFill>
                  <a:schemeClr val="bg1"/>
                </a:solidFill>
                <a:latin typeface="Outfit"/>
                <a:ea typeface="Outfit"/>
                <a:cs typeface="Outfit"/>
                <a:sym typeface="Outfit"/>
              </a:rPr>
              <a:t>trg_FraudKontrol</a:t>
            </a:r>
            <a:r>
              <a:rPr lang="en-US" sz="1500" b="1" i="0" u="none" strike="noStrike" cap="none" dirty="0">
                <a:solidFill>
                  <a:schemeClr val="bg1"/>
                </a:solidFill>
                <a:latin typeface="Outfit"/>
                <a:ea typeface="Outfit"/>
                <a:cs typeface="Outfit"/>
                <a:sym typeface="Outfit"/>
              </a:rPr>
              <a:t> (AFTER INSERT):</a:t>
            </a:r>
            <a:r>
              <a:rPr lang="en-US" sz="1500" b="0" i="0" u="none" strike="noStrike" cap="none" dirty="0">
                <a:solidFill>
                  <a:schemeClr val="bg1"/>
                </a:solidFill>
                <a:latin typeface="Outfit"/>
                <a:ea typeface="Outfit"/>
                <a:cs typeface="Outfit"/>
                <a:sym typeface="Outfit"/>
              </a:rPr>
              <a:t> Islem </a:t>
            </a:r>
            <a:r>
              <a:rPr lang="en-US" sz="1500" b="0" i="0" u="none" strike="noStrike" cap="none" dirty="0" err="1">
                <a:solidFill>
                  <a:schemeClr val="bg1"/>
                </a:solidFill>
                <a:latin typeface="Outfit"/>
                <a:ea typeface="Outfit"/>
                <a:cs typeface="Outfit"/>
                <a:sym typeface="Outfit"/>
              </a:rPr>
              <a:t>tablosuna</a:t>
            </a:r>
            <a:r>
              <a:rPr lang="en-US" sz="1500" b="0" i="0" u="none" strike="noStrike" cap="none" dirty="0">
                <a:solidFill>
                  <a:schemeClr val="bg1"/>
                </a:solidFill>
                <a:latin typeface="Outfit"/>
                <a:ea typeface="Outfit"/>
                <a:cs typeface="Outfit"/>
                <a:sym typeface="Outfit"/>
              </a:rPr>
              <a:t> yeni </a:t>
            </a:r>
            <a:r>
              <a:rPr lang="en-US" sz="1500" b="0" i="0" u="none" strike="noStrike" cap="none" dirty="0" err="1">
                <a:solidFill>
                  <a:schemeClr val="bg1"/>
                </a:solidFill>
                <a:latin typeface="Outfit"/>
                <a:ea typeface="Outfit"/>
                <a:cs typeface="Outfit"/>
                <a:sym typeface="Outfit"/>
              </a:rPr>
              <a:t>bir</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kayıt</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eklendiğinde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tutar</a:t>
            </a:r>
            <a:r>
              <a:rPr lang="en-US" sz="1500" b="0" i="0" u="none" strike="noStrike" cap="none" dirty="0">
                <a:solidFill>
                  <a:schemeClr val="bg1"/>
                </a:solidFill>
                <a:latin typeface="Outfit"/>
                <a:ea typeface="Outfit"/>
                <a:cs typeface="Outfit"/>
                <a:sym typeface="Outfit"/>
              </a:rPr>
              <a:t> 50.000 </a:t>
            </a:r>
            <a:r>
              <a:rPr lang="en-US" sz="1500" b="0" i="0" u="none" strike="noStrike" cap="none" dirty="0" err="1">
                <a:solidFill>
                  <a:schemeClr val="bg1"/>
                </a:solidFill>
                <a:latin typeface="Outfit"/>
                <a:ea typeface="Outfit"/>
                <a:cs typeface="Outfit"/>
                <a:sym typeface="Outfit"/>
              </a:rPr>
              <a:t>TL'yi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aşıyorsa</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işlem</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otomatik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olarak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şüpheli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işaretlenir</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ve</a:t>
            </a:r>
            <a:r>
              <a:rPr lang="en-US" sz="1500" b="0" i="0" u="none" strike="noStrike" cap="none" dirty="0">
                <a:solidFill>
                  <a:schemeClr val="bg1"/>
                </a:solidFill>
                <a:latin typeface="Outfit"/>
                <a:ea typeface="Outfit"/>
                <a:cs typeface="Outfit"/>
                <a:sym typeface="Outfit"/>
              </a:rPr>
              <a:t> Fraud_Log </a:t>
            </a:r>
            <a:r>
              <a:rPr lang="en-US" sz="1500" b="0" i="0" u="none" strike="noStrike" cap="none" dirty="0" err="1">
                <a:solidFill>
                  <a:schemeClr val="bg1"/>
                </a:solidFill>
                <a:latin typeface="Outfit"/>
                <a:ea typeface="Outfit"/>
                <a:cs typeface="Outfit"/>
                <a:sym typeface="Outfit"/>
              </a:rPr>
              <a:t>tablosuna</a:t>
            </a:r>
            <a:r>
              <a:rPr lang="en-US" sz="1500" b="0" i="0" u="none" strike="noStrike" cap="none" dirty="0">
                <a:solidFill>
                  <a:schemeClr val="bg1"/>
                </a:solidFill>
                <a:latin typeface="Outfit"/>
                <a:ea typeface="Outfit"/>
                <a:cs typeface="Outfit"/>
                <a:sym typeface="Outfit"/>
              </a:rPr>
              <a:t> 0.90 risk </a:t>
            </a:r>
            <a:r>
              <a:rPr lang="en-US" sz="1500" b="0" i="0" u="none" strike="noStrike" cap="none" dirty="0" err="1">
                <a:solidFill>
                  <a:schemeClr val="bg1"/>
                </a:solidFill>
                <a:latin typeface="Outfit"/>
                <a:ea typeface="Outfit"/>
                <a:cs typeface="Outfit"/>
                <a:sym typeface="Outfit"/>
              </a:rPr>
              <a:t>skoru</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ile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kaydedilir</a:t>
            </a:r>
            <a:r>
              <a:rPr lang="en-US" sz="1500" b="0" i="0" u="none" strike="noStrike" cap="none" dirty="0">
                <a:solidFill>
                  <a:schemeClr val="bg1"/>
                </a:solidFill>
                <a:latin typeface="Outfit"/>
                <a:ea typeface="Outfit"/>
                <a:cs typeface="Outfit"/>
                <a:sym typeface="Outfit"/>
              </a:rPr>
              <a:t>.</a:t>
            </a:r>
            <a:endParaRPr lang="tr-TR" sz="1500" b="0" i="0" u="none" strike="noStrike" cap="none" dirty="0">
              <a:solidFill>
                <a:schemeClr val="bg1"/>
              </a:solidFill>
              <a:latin typeface="Outfit"/>
              <a:ea typeface="Outfit"/>
              <a:cs typeface="Outfit"/>
              <a:sym typeface="Outfit"/>
            </a:endParaRPr>
          </a:p>
        </p:txBody>
      </p:sp>
      <p:sp>
        <p:nvSpPr>
          <p:cNvPr id="229" name="Google Shape;229;p20"/>
          <p:cNvSpPr txBox="1"/>
          <p:nvPr/>
        </p:nvSpPr>
        <p:spPr>
          <a:xfrm>
            <a:off x="5581649" y="4439841"/>
            <a:ext cx="5967619" cy="1822037"/>
          </a:xfrm>
          <a:prstGeom prst="rect">
            <a:avLst/>
          </a:prstGeom>
          <a:noFill/>
          <a:ln>
            <a:noFill/>
          </a:ln>
        </p:spPr>
        <p:txBody>
          <a:bodyPr spcFirstLastPara="1" wrap="square" lIns="66675" tIns="0" rIns="0" bIns="0" anchor="t" anchorCtr="0">
            <a:spAutoFit/>
          </a:bodyPr>
          <a:lstStyle/>
          <a:p>
            <a:pPr marL="285750" lvl="0" indent="-285750">
              <a:lnSpc>
                <a:spcPct val="160000"/>
              </a:lnSpc>
              <a:buClr>
                <a:schemeClr val="bg1"/>
              </a:buClr>
              <a:buFont typeface="Arial" panose="020B0604020202020204" pitchFamily="34" charset="0"/>
              <a:buChar char="•"/>
            </a:pPr>
            <a:r>
              <a:rPr lang="en-US" sz="1500" b="1" i="0" u="none" strike="noStrike" cap="none" dirty="0" err="1">
                <a:solidFill>
                  <a:schemeClr val="bg1"/>
                </a:solidFill>
                <a:latin typeface="Outfit"/>
                <a:ea typeface="Outfit"/>
                <a:cs typeface="Outfit"/>
                <a:sym typeface="Outfit"/>
              </a:rPr>
              <a:t>trg_BasvuruDegerlendirme</a:t>
            </a:r>
            <a:r>
              <a:rPr lang="en-US" sz="1500" b="1" i="0" u="none" strike="noStrike" cap="none" dirty="0">
                <a:solidFill>
                  <a:schemeClr val="bg1"/>
                </a:solidFill>
                <a:latin typeface="Outfit"/>
                <a:ea typeface="Outfit"/>
                <a:cs typeface="Outfit"/>
                <a:sym typeface="Outfit"/>
              </a:rPr>
              <a:t> (AFTER UPDATE):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Kredi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başvuru</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durumu</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örneğin</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BEKLEMEDE'den</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ONAYLANDI'ya</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değiştiğinde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sistem</a:t>
            </a:r>
            <a:r>
              <a:rPr lang="en-US" sz="1500" b="0" i="0" u="none" strike="noStrike" cap="none" dirty="0">
                <a:solidFill>
                  <a:schemeClr val="bg1"/>
                </a:solidFill>
                <a:latin typeface="Outfit"/>
                <a:ea typeface="Outfit"/>
                <a:cs typeface="Outfit"/>
                <a:sym typeface="Outfit"/>
              </a:rPr>
              <a:t> </a:t>
            </a:r>
            <a:r>
              <a:rPr lang="en-US" sz="1500" b="0" i="0" u="none" strike="noStrike" cap="none" dirty="0">
                <a:solidFill>
                  <a:srgbClr val="38BDF8"/>
                </a:solidFill>
                <a:latin typeface="Outfit SemiBold"/>
                <a:ea typeface="Outfit SemiBold"/>
                <a:cs typeface="Outfit SemiBold"/>
                <a:sym typeface="Outfit SemiBold"/>
              </a:rPr>
              <a:t>DegerlendirmeTarihi</a:t>
            </a:r>
            <a:r>
              <a:rPr lang="en-US" sz="1500" b="0" i="0" u="none" strike="noStrike" cap="none" dirty="0">
                <a:solidFill>
                  <a:srgbClr val="CBD5E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alanını</a:t>
            </a:r>
            <a:r>
              <a:rPr lang="en-US" sz="1500" b="0" i="0" u="none" strike="noStrike" cap="none" dirty="0">
                <a:solidFill>
                  <a:schemeClr val="bg1"/>
                </a:solidFill>
                <a:latin typeface="Outfit"/>
                <a:ea typeface="Outfit"/>
                <a:cs typeface="Outfit"/>
                <a:sym typeface="Outfit"/>
              </a:rPr>
              <a:t> GETDATE() </a:t>
            </a:r>
            <a:r>
              <a:rPr lang="en-US" sz="1500" b="0" i="0" u="none" strike="noStrike" cap="none" dirty="0" err="1">
                <a:solidFill>
                  <a:schemeClr val="bg1"/>
                </a:solidFill>
                <a:latin typeface="Outfit"/>
                <a:ea typeface="Outfit"/>
                <a:cs typeface="Outfit"/>
                <a:sym typeface="Outfit"/>
              </a:rPr>
              <a:t>fonksiyonu</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ile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anlık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olarak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mühürler</a:t>
            </a:r>
            <a:r>
              <a:rPr lang="en-US" sz="1500" b="0" i="0" u="none" strike="noStrike" cap="none" dirty="0">
                <a:solidFill>
                  <a:schemeClr val="bg1"/>
                </a:solidFill>
                <a:latin typeface="Outfit"/>
                <a:ea typeface="Outfit"/>
                <a:cs typeface="Outfit"/>
                <a:sym typeface="Outfit"/>
              </a:rPr>
              <a:t>.</a:t>
            </a:r>
            <a:r>
              <a:rPr lang="tr-TR" dirty="0">
                <a:solidFill>
                  <a:schemeClr val="bg1"/>
                </a:solidFill>
              </a:rPr>
              <a:t> fonksiyonu ile güncel tarih ve saati otomatik olarak kaydeder.</a:t>
            </a:r>
            <a:endParaRPr dirty="0">
              <a:solidFill>
                <a:schemeClr val="bg1"/>
              </a:solidFill>
            </a:endParaRPr>
          </a:p>
        </p:txBody>
      </p:sp>
      <p:sp>
        <p:nvSpPr>
          <p:cNvPr id="230" name="Google Shape;230;p20"/>
          <p:cNvSpPr txBox="1"/>
          <p:nvPr/>
        </p:nvSpPr>
        <p:spPr>
          <a:xfrm>
            <a:off x="571500" y="571500"/>
            <a:ext cx="1160145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38BDF8"/>
                </a:solidFill>
                <a:latin typeface="Outfit SemiBold"/>
                <a:ea typeface="Outfit SemiBold"/>
                <a:cs typeface="Outfit SemiBold"/>
                <a:sym typeface="Outfit SemiBold"/>
              </a:rPr>
              <a:t>Otomasyon ve Trigger Mekanizmaları</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4"/>
        <p:cNvGrpSpPr/>
        <p:nvPr/>
      </p:nvGrpSpPr>
      <p:grpSpPr>
        <a:xfrm>
          <a:off x="0" y="0"/>
          <a:ext cx="0" cy="0"/>
          <a:chOff x="0" y="0"/>
          <a:chExt cx="0" cy="0"/>
        </a:xfrm>
      </p:grpSpPr>
      <p:pic>
        <p:nvPicPr>
          <p:cNvPr id="235" name="Google Shape;235;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6" name="Google Shape;236;p21"/>
          <p:cNvSpPr/>
          <p:nvPr/>
        </p:nvSpPr>
        <p:spPr>
          <a:xfrm>
            <a:off x="571500" y="1835497"/>
            <a:ext cx="11049000" cy="3133725"/>
          </a:xfrm>
          <a:prstGeom prst="roundRect">
            <a:avLst>
              <a:gd name="adj" fmla="val 0"/>
            </a:avLst>
          </a:prstGeom>
          <a:solidFill>
            <a:srgbClr val="1E293B"/>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37" name="Google Shape;237;p21"/>
          <p:cNvGraphicFramePr/>
          <p:nvPr>
            <p:extLst>
              <p:ext uri="{D42A27DB-BD31-4B8C-83A1-F6EECF244321}">
                <p14:modId xmlns:p14="http://schemas.microsoft.com/office/powerpoint/2010/main" val="347183151"/>
              </p:ext>
            </p:extLst>
          </p:nvPr>
        </p:nvGraphicFramePr>
        <p:xfrm>
          <a:off x="571500" y="1835497"/>
          <a:ext cx="11048975" cy="3133750"/>
        </p:xfrm>
        <a:graphic>
          <a:graphicData uri="http://schemas.openxmlformats.org/drawingml/2006/table">
            <a:tbl>
              <a:tblPr firstRow="1" bandRow="1">
                <a:noFill/>
                <a:tableStyleId>{0FDE0B6C-D3BE-4681-99CD-2D6062C752BC}</a:tableStyleId>
              </a:tblPr>
              <a:tblGrid>
                <a:gridCol w="3802250">
                  <a:extLst>
                    <a:ext uri="{9D8B030D-6E8A-4147-A177-3AD203B41FA5}">
                      <a16:colId xmlns:a16="http://schemas.microsoft.com/office/drawing/2014/main" val="20000"/>
                    </a:ext>
                  </a:extLst>
                </a:gridCol>
                <a:gridCol w="3580050">
                  <a:extLst>
                    <a:ext uri="{9D8B030D-6E8A-4147-A177-3AD203B41FA5}">
                      <a16:colId xmlns:a16="http://schemas.microsoft.com/office/drawing/2014/main" val="20001"/>
                    </a:ext>
                  </a:extLst>
                </a:gridCol>
                <a:gridCol w="3666675">
                  <a:extLst>
                    <a:ext uri="{9D8B030D-6E8A-4147-A177-3AD203B41FA5}">
                      <a16:colId xmlns:a16="http://schemas.microsoft.com/office/drawing/2014/main" val="20002"/>
                    </a:ext>
                  </a:extLst>
                </a:gridCol>
              </a:tblGrid>
              <a:tr h="626750">
                <a:tc>
                  <a:txBody>
                    <a:bodyPr/>
                    <a:lstStyle/>
                    <a:p>
                      <a:pPr marL="0" marR="0" lvl="0" indent="0" algn="l" rtl="0">
                        <a:spcBef>
                          <a:spcPts val="0"/>
                        </a:spcBef>
                        <a:spcAft>
                          <a:spcPts val="0"/>
                        </a:spcAft>
                        <a:buNone/>
                      </a:pPr>
                      <a:r>
                        <a:rPr lang="en-US" sz="1500" b="0" i="0" u="none" strike="noStrike" cap="none">
                          <a:solidFill>
                            <a:srgbClr val="38BDF8"/>
                          </a:solidFill>
                          <a:latin typeface="Outfit SemiBold"/>
                          <a:ea typeface="Outfit SemiBold"/>
                          <a:cs typeface="Outfit SemiBold"/>
                          <a:sym typeface="Outfit SemiBold"/>
                        </a:rPr>
                        <a:t>Hedef Nesne (Tablo/View/SP)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500" b="0" i="0" u="none" strike="noStrike" cap="none">
                          <a:solidFill>
                            <a:srgbClr val="38BDF8"/>
                          </a:solidFill>
                          <a:latin typeface="Outfit SemiBold"/>
                          <a:ea typeface="Outfit SemiBold"/>
                          <a:cs typeface="Outfit SemiBold"/>
                          <a:sym typeface="Outfit SemiBold"/>
                        </a:rPr>
                        <a:t>Rol: db_readonly (Okuyucu)</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500" b="0" i="0" u="none" strike="noStrike" cap="none">
                          <a:solidFill>
                            <a:srgbClr val="38BDF8"/>
                          </a:solidFill>
                          <a:latin typeface="Outfit SemiBold"/>
                          <a:ea typeface="Outfit SemiBold"/>
                          <a:cs typeface="Outfit SemiBold"/>
                          <a:sym typeface="Outfit SemiBold"/>
                        </a:rPr>
                        <a:t>Rol: db_operator (Operatör)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0"/>
                  </a:ext>
                </a:extLst>
              </a:tr>
              <a:tr h="626750">
                <a:tc>
                  <a:txBody>
                    <a:bodyPr/>
                    <a:lstStyle/>
                    <a:p>
                      <a:pPr marL="0" marR="0" lvl="0" indent="0" algn="l" rtl="0">
                        <a:spcBef>
                          <a:spcPts val="0"/>
                        </a:spcBef>
                        <a:spcAft>
                          <a:spcPts val="0"/>
                        </a:spcAft>
                        <a:buNone/>
                      </a:pPr>
                      <a:r>
                        <a:rPr lang="en-US" sz="1200" b="1" i="0" u="none" strike="noStrike" cap="none">
                          <a:solidFill>
                            <a:schemeClr val="bg1"/>
                          </a:solidFill>
                          <a:latin typeface="Outfit"/>
                          <a:ea typeface="Outfit"/>
                          <a:cs typeface="Outfit"/>
                          <a:sym typeface="Outfit"/>
                        </a:rPr>
                        <a:t>Musteri (Tablo)</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1200" b="0" i="0" u="none" strike="noStrike" cap="none" dirty="0">
                          <a:solidFill>
                            <a:schemeClr val="bg1"/>
                          </a:solidFill>
                          <a:latin typeface="Outfit"/>
                          <a:ea typeface="Outfit"/>
                          <a:cs typeface="Outfit"/>
                          <a:sym typeface="Outfit"/>
                        </a:rPr>
                        <a:t> </a:t>
                      </a:r>
                      <a:r>
                        <a:rPr lang="en-US" sz="1200" b="0" i="0" u="none" strike="noStrike" cap="none" dirty="0">
                          <a:solidFill>
                            <a:schemeClr val="bg1"/>
                          </a:solidFill>
                          <a:latin typeface="Outfit"/>
                          <a:ea typeface="Outfit"/>
                          <a:cs typeface="Outfit"/>
                          <a:sym typeface="Outfit"/>
                        </a:rPr>
                        <a:t>SELECT</a:t>
                      </a:r>
                      <a:endParaRPr dirty="0">
                        <a:solidFill>
                          <a:schemeClr val="bg1"/>
                        </a:solidFill>
                      </a:endParaRPr>
                    </a:p>
                  </a:txBody>
                  <a:tcPr marL="2476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SELECT, INSERT, UPDATE </a:t>
                      </a:r>
                      <a:br>
                        <a:rPr lang="en-US" sz="1800" u="none" strike="noStrike" cap="none">
                          <a:solidFill>
                            <a:schemeClr val="bg1"/>
                          </a:solidFill>
                          <a:latin typeface="Calibri"/>
                          <a:ea typeface="Calibri"/>
                          <a:cs typeface="Calibri"/>
                          <a:sym typeface="Calibri"/>
                        </a:rPr>
                      </a:br>
                      <a:r>
                        <a:rPr lang="en-US" sz="1200" b="0" i="0" u="none" strike="noStrike" cap="none">
                          <a:solidFill>
                            <a:schemeClr val="bg1"/>
                          </a:solidFill>
                          <a:latin typeface="Outfit"/>
                          <a:ea typeface="Outfit"/>
                          <a:cs typeface="Outfit"/>
                          <a:sym typeface="Outfit"/>
                        </a:rPr>
                        <a:t> DELETE (REVOKE edildi)</a:t>
                      </a:r>
                      <a:endParaRPr>
                        <a:solidFill>
                          <a:schemeClr val="bg1"/>
                        </a:solidFill>
                      </a:endParaRPr>
                    </a:p>
                  </a:txBody>
                  <a:tcPr marL="2476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626750">
                <a:tc>
                  <a:txBody>
                    <a:bodyPr/>
                    <a:lstStyle/>
                    <a:p>
                      <a:pPr marL="0" marR="0" lvl="0" indent="0" algn="l" rtl="0">
                        <a:spcBef>
                          <a:spcPts val="0"/>
                        </a:spcBef>
                        <a:spcAft>
                          <a:spcPts val="0"/>
                        </a:spcAft>
                        <a:buNone/>
                      </a:pPr>
                      <a:r>
                        <a:rPr lang="en-US" sz="1200" b="1" i="0" u="none" strike="noStrike" cap="none">
                          <a:solidFill>
                            <a:schemeClr val="bg1"/>
                          </a:solidFill>
                          <a:latin typeface="Outfit"/>
                          <a:ea typeface="Outfit"/>
                          <a:cs typeface="Outfit"/>
                          <a:sym typeface="Outfit"/>
                        </a:rPr>
                        <a:t>Islem (Tablo)</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1200" b="0" i="0" u="none" strike="noStrike" cap="none" dirty="0">
                          <a:solidFill>
                            <a:schemeClr val="bg1"/>
                          </a:solidFill>
                          <a:latin typeface="Outfit"/>
                          <a:ea typeface="Outfit"/>
                          <a:cs typeface="Outfit"/>
                          <a:sym typeface="Outfit"/>
                        </a:rPr>
                        <a:t> </a:t>
                      </a:r>
                      <a:r>
                        <a:rPr lang="en-US" sz="1200" b="0" i="0" u="none" strike="noStrike" cap="none" dirty="0">
                          <a:solidFill>
                            <a:schemeClr val="bg1"/>
                          </a:solidFill>
                          <a:latin typeface="Outfit"/>
                          <a:ea typeface="Outfit"/>
                          <a:cs typeface="Outfit"/>
                          <a:sym typeface="Outfit"/>
                        </a:rPr>
                        <a:t>SELECT</a:t>
                      </a:r>
                      <a:endParaRPr dirty="0">
                        <a:solidFill>
                          <a:schemeClr val="bg1"/>
                        </a:solidFill>
                      </a:endParaRPr>
                    </a:p>
                  </a:txBody>
                  <a:tcPr marL="2476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SELECT, INSERT, UPDATE</a:t>
                      </a:r>
                      <a:endParaRPr>
                        <a:solidFill>
                          <a:schemeClr val="bg1"/>
                        </a:solidFill>
                      </a:endParaRPr>
                    </a:p>
                  </a:txBody>
                  <a:tcPr marL="2476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626750">
                <a:tc>
                  <a:txBody>
                    <a:bodyPr/>
                    <a:lstStyle/>
                    <a:p>
                      <a:pPr marL="0" marR="0" lvl="0" indent="0" algn="l" rtl="0">
                        <a:spcBef>
                          <a:spcPts val="0"/>
                        </a:spcBef>
                        <a:spcAft>
                          <a:spcPts val="0"/>
                        </a:spcAft>
                        <a:buNone/>
                      </a:pPr>
                      <a:r>
                        <a:rPr lang="en-US" sz="1200" b="1" i="0" u="none" strike="noStrike" cap="none">
                          <a:solidFill>
                            <a:schemeClr val="bg1"/>
                          </a:solidFill>
                          <a:latin typeface="Outfit"/>
                          <a:ea typeface="Outfit"/>
                          <a:cs typeface="Outfit"/>
                          <a:sym typeface="Outfit"/>
                        </a:rPr>
                        <a:t>v_aktif_hesaplar (View)</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1200" b="0" i="0" u="none" strike="noStrike" cap="none" dirty="0">
                          <a:solidFill>
                            <a:schemeClr val="bg1"/>
                          </a:solidFill>
                          <a:latin typeface="Outfit"/>
                          <a:ea typeface="Outfit"/>
                          <a:cs typeface="Outfit"/>
                          <a:sym typeface="Outfit"/>
                        </a:rPr>
                        <a:t> </a:t>
                      </a:r>
                      <a:r>
                        <a:rPr lang="en-US" sz="1200" b="0" i="0" u="none" strike="noStrike" cap="none" dirty="0">
                          <a:solidFill>
                            <a:schemeClr val="bg1"/>
                          </a:solidFill>
                          <a:latin typeface="Outfit"/>
                          <a:ea typeface="Outfit"/>
                          <a:cs typeface="Outfit"/>
                          <a:sym typeface="Outfit"/>
                        </a:rPr>
                        <a:t>SELECT</a:t>
                      </a:r>
                      <a:endParaRPr dirty="0">
                        <a:solidFill>
                          <a:schemeClr val="bg1"/>
                        </a:solidFill>
                      </a:endParaRPr>
                    </a:p>
                  </a:txBody>
                  <a:tcPr marL="2476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a:solidFill>
                            <a:schemeClr val="bg1"/>
                          </a:solidFill>
                          <a:latin typeface="Outfit"/>
                          <a:ea typeface="Outfit"/>
                          <a:cs typeface="Outfit"/>
                          <a:sym typeface="Outfit"/>
                        </a:rPr>
                        <a:t>SELECT</a:t>
                      </a:r>
                      <a:endParaRPr>
                        <a:solidFill>
                          <a:schemeClr val="bg1"/>
                        </a:solidFill>
                      </a:endParaRPr>
                    </a:p>
                  </a:txBody>
                  <a:tcPr marL="2476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626750">
                <a:tc>
                  <a:txBody>
                    <a:bodyPr/>
                    <a:lstStyle/>
                    <a:p>
                      <a:pPr marL="0" marR="0" lvl="0" indent="0" algn="l" rtl="0">
                        <a:spcBef>
                          <a:spcPts val="0"/>
                        </a:spcBef>
                        <a:spcAft>
                          <a:spcPts val="0"/>
                        </a:spcAft>
                        <a:buNone/>
                      </a:pPr>
                      <a:r>
                        <a:rPr lang="en-US" sz="1200" b="1" i="0" u="none" strike="noStrike" cap="none">
                          <a:solidFill>
                            <a:schemeClr val="bg1"/>
                          </a:solidFill>
                          <a:latin typeface="Outfit"/>
                          <a:ea typeface="Outfit"/>
                          <a:cs typeface="Outfit"/>
                          <a:sym typeface="Outfit"/>
                        </a:rPr>
                        <a:t>IslemEkle (Stored Proc)</a:t>
                      </a:r>
                      <a:endParaRPr>
                        <a:solidFill>
                          <a:schemeClr val="bg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1200" b="0" i="0" u="none" strike="noStrike" cap="none" dirty="0">
                          <a:solidFill>
                            <a:schemeClr val="bg1"/>
                          </a:solidFill>
                          <a:latin typeface="Outfit"/>
                          <a:ea typeface="Outfit"/>
                          <a:cs typeface="Outfit"/>
                          <a:sym typeface="Outfit"/>
                        </a:rPr>
                        <a:t> </a:t>
                      </a:r>
                      <a:r>
                        <a:rPr lang="en-US" sz="1200" b="0" i="0" u="none" strike="noStrike" cap="none" dirty="0" err="1">
                          <a:solidFill>
                            <a:schemeClr val="bg1"/>
                          </a:solidFill>
                          <a:latin typeface="Outfit"/>
                          <a:ea typeface="Outfit"/>
                          <a:cs typeface="Outfit"/>
                          <a:sym typeface="Outfit"/>
                        </a:rPr>
                        <a:t>Erişim</a:t>
                      </a:r>
                      <a:r>
                        <a:rPr lang="en-US" sz="1200" b="0" i="0" u="none" strike="noStrike" cap="none" dirty="0">
                          <a:solidFill>
                            <a:schemeClr val="bg1"/>
                          </a:solidFill>
                          <a:latin typeface="Outfit"/>
                          <a:ea typeface="Outfit"/>
                          <a:cs typeface="Outfit"/>
                          <a:sym typeface="Outfit"/>
                        </a:rPr>
                        <a:t> Yok</a:t>
                      </a:r>
                      <a:endParaRPr dirty="0">
                        <a:solidFill>
                          <a:schemeClr val="bg1"/>
                        </a:solidFill>
                      </a:endParaRPr>
                    </a:p>
                  </a:txBody>
                  <a:tcPr marL="2286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200" b="0" i="0" u="none" strike="noStrike" cap="none" dirty="0">
                          <a:solidFill>
                            <a:schemeClr val="bg1"/>
                          </a:solidFill>
                          <a:latin typeface="Outfit"/>
                          <a:ea typeface="Outfit"/>
                          <a:cs typeface="Outfit"/>
                          <a:sym typeface="Outfit"/>
                        </a:rPr>
                        <a:t>EXECUTE</a:t>
                      </a:r>
                      <a:endParaRPr dirty="0">
                        <a:solidFill>
                          <a:schemeClr val="bg1"/>
                        </a:solidFill>
                      </a:endParaRPr>
                    </a:p>
                  </a:txBody>
                  <a:tcPr marL="24765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sp>
        <p:nvSpPr>
          <p:cNvPr id="238" name="Google Shape;238;p21"/>
          <p:cNvSpPr txBox="1"/>
          <p:nvPr/>
        </p:nvSpPr>
        <p:spPr>
          <a:xfrm>
            <a:off x="571500" y="5207347"/>
            <a:ext cx="11049000" cy="68942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1" u="none" strike="noStrike" cap="none" dirty="0" err="1">
                <a:solidFill>
                  <a:schemeClr val="bg1"/>
                </a:solidFill>
                <a:latin typeface="+mn-lt"/>
                <a:ea typeface="Calibri" panose="020F0502020204030204" pitchFamily="34" charset="0"/>
                <a:cs typeface="Calibri" panose="020F0502020204030204" pitchFamily="34" charset="0"/>
                <a:sym typeface="Outfit"/>
              </a:rPr>
              <a:t>Güvenlik</a:t>
            </a:r>
            <a:r>
              <a:rPr lang="en-US" b="1"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1" u="none" strike="noStrike" cap="none" dirty="0" err="1">
                <a:solidFill>
                  <a:schemeClr val="bg1"/>
                </a:solidFill>
                <a:latin typeface="+mn-lt"/>
                <a:ea typeface="Calibri" panose="020F0502020204030204" pitchFamily="34" charset="0"/>
                <a:cs typeface="Calibri" panose="020F0502020204030204" pitchFamily="34" charset="0"/>
                <a:sym typeface="Outfit"/>
              </a:rPr>
              <a:t>Politikası</a:t>
            </a:r>
            <a:r>
              <a:rPr lang="en-US" b="1" u="none" strike="noStrike" cap="none" dirty="0">
                <a:solidFill>
                  <a:schemeClr val="bg1"/>
                </a:solidFill>
                <a:latin typeface="+mn-lt"/>
                <a:ea typeface="Calibri" panose="020F0502020204030204" pitchFamily="34" charset="0"/>
                <a:cs typeface="Calibri" panose="020F0502020204030204" pitchFamily="34" charset="0"/>
                <a:sym typeface="Outfit"/>
              </a:rPr>
              <a:t>:</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Operatör</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rolünün</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Müşteri</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silme</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(DELETE)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yetkisi</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sistem</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bütünlüğünü</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korumak</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adına</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bilinçli</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olarak</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geri</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alınmıştır</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(REVOKE).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Sadece</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Veritabanı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Yöneticisi</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 (DBO) </a:t>
            </a:r>
            <a:r>
              <a:rPr lang="en-US" b="0" u="none" strike="noStrike" cap="none" dirty="0" err="1">
                <a:solidFill>
                  <a:schemeClr val="bg1"/>
                </a:solidFill>
                <a:latin typeface="+mn-lt"/>
                <a:ea typeface="Calibri" panose="020F0502020204030204" pitchFamily="34" charset="0"/>
                <a:cs typeface="Calibri" panose="020F0502020204030204" pitchFamily="34" charset="0"/>
                <a:sym typeface="Outfit"/>
              </a:rPr>
              <a:t>silebilir</a:t>
            </a:r>
            <a:r>
              <a:rPr lang="en-US" b="0" u="none" strike="noStrike" cap="none" dirty="0">
                <a:solidFill>
                  <a:schemeClr val="bg1"/>
                </a:solidFill>
                <a:latin typeface="+mn-lt"/>
                <a:ea typeface="Calibri" panose="020F0502020204030204" pitchFamily="34" charset="0"/>
                <a:cs typeface="Calibri" panose="020F0502020204030204" pitchFamily="34" charset="0"/>
                <a:sym typeface="Outfit"/>
              </a:rPr>
              <a:t>.</a:t>
            </a:r>
            <a:endParaRPr dirty="0">
              <a:solidFill>
                <a:schemeClr val="bg1"/>
              </a:solidFill>
              <a:latin typeface="+mn-lt"/>
              <a:ea typeface="Calibri" panose="020F0502020204030204" pitchFamily="34" charset="0"/>
              <a:cs typeface="Calibri" panose="020F0502020204030204" pitchFamily="34" charset="0"/>
            </a:endParaRPr>
          </a:p>
        </p:txBody>
      </p:sp>
      <p:sp>
        <p:nvSpPr>
          <p:cNvPr id="239" name="Google Shape;239;p21"/>
          <p:cNvSpPr/>
          <p:nvPr/>
        </p:nvSpPr>
        <p:spPr>
          <a:xfrm>
            <a:off x="571500" y="2449859"/>
            <a:ext cx="380226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21"/>
          <p:cNvSpPr/>
          <p:nvPr/>
        </p:nvSpPr>
        <p:spPr>
          <a:xfrm>
            <a:off x="4373760" y="2449859"/>
            <a:ext cx="358006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21"/>
          <p:cNvSpPr/>
          <p:nvPr/>
        </p:nvSpPr>
        <p:spPr>
          <a:xfrm>
            <a:off x="7953821" y="2449859"/>
            <a:ext cx="366667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21"/>
          <p:cNvSpPr/>
          <p:nvPr/>
        </p:nvSpPr>
        <p:spPr>
          <a:xfrm>
            <a:off x="571500" y="3221384"/>
            <a:ext cx="380226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1"/>
          <p:cNvSpPr/>
          <p:nvPr/>
        </p:nvSpPr>
        <p:spPr>
          <a:xfrm>
            <a:off x="4373760" y="3221384"/>
            <a:ext cx="358006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21"/>
          <p:cNvSpPr/>
          <p:nvPr/>
        </p:nvSpPr>
        <p:spPr>
          <a:xfrm>
            <a:off x="7953821" y="3221384"/>
            <a:ext cx="366667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5" name="Google Shape;245;p21"/>
          <p:cNvSpPr/>
          <p:nvPr/>
        </p:nvSpPr>
        <p:spPr>
          <a:xfrm>
            <a:off x="571500" y="3802409"/>
            <a:ext cx="380226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6" name="Google Shape;246;p21"/>
          <p:cNvSpPr/>
          <p:nvPr/>
        </p:nvSpPr>
        <p:spPr>
          <a:xfrm>
            <a:off x="4373760" y="3802409"/>
            <a:ext cx="358006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1"/>
          <p:cNvSpPr/>
          <p:nvPr/>
        </p:nvSpPr>
        <p:spPr>
          <a:xfrm>
            <a:off x="7953821" y="3802409"/>
            <a:ext cx="366667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8" name="Google Shape;248;p21"/>
          <p:cNvSpPr/>
          <p:nvPr/>
        </p:nvSpPr>
        <p:spPr>
          <a:xfrm>
            <a:off x="571500" y="4383434"/>
            <a:ext cx="380226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1"/>
          <p:cNvSpPr/>
          <p:nvPr/>
        </p:nvSpPr>
        <p:spPr>
          <a:xfrm>
            <a:off x="4373760" y="4383434"/>
            <a:ext cx="358006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1"/>
          <p:cNvSpPr/>
          <p:nvPr/>
        </p:nvSpPr>
        <p:spPr>
          <a:xfrm>
            <a:off x="7953821" y="4383434"/>
            <a:ext cx="3666678"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56" name="Google Shape;256;p21" descr="image.png"/>
          <p:cNvPicPr preferRelativeResize="0"/>
          <p:nvPr/>
        </p:nvPicPr>
        <p:blipFill rotWithShape="1">
          <a:blip r:embed="rId4">
            <a:alphaModFix/>
          </a:blip>
          <a:srcRect/>
          <a:stretch/>
        </p:blipFill>
        <p:spPr>
          <a:xfrm>
            <a:off x="4497585" y="3927648"/>
            <a:ext cx="133350" cy="152400"/>
          </a:xfrm>
          <a:prstGeom prst="rect">
            <a:avLst/>
          </a:prstGeom>
          <a:noFill/>
          <a:ln>
            <a:noFill/>
          </a:ln>
        </p:spPr>
      </p:pic>
      <p:pic>
        <p:nvPicPr>
          <p:cNvPr id="259" name="Google Shape;259;p21" descr="image.png"/>
          <p:cNvPicPr preferRelativeResize="0"/>
          <p:nvPr/>
        </p:nvPicPr>
        <p:blipFill rotWithShape="1">
          <a:blip r:embed="rId4">
            <a:alphaModFix/>
          </a:blip>
          <a:srcRect/>
          <a:stretch/>
        </p:blipFill>
        <p:spPr>
          <a:xfrm>
            <a:off x="4497585" y="2690929"/>
            <a:ext cx="133350" cy="152400"/>
          </a:xfrm>
          <a:prstGeom prst="rect">
            <a:avLst/>
          </a:prstGeom>
          <a:noFill/>
          <a:ln>
            <a:noFill/>
          </a:ln>
        </p:spPr>
      </p:pic>
      <p:pic>
        <p:nvPicPr>
          <p:cNvPr id="260" name="Google Shape;260;p21" descr="image.png"/>
          <p:cNvPicPr preferRelativeResize="0"/>
          <p:nvPr/>
        </p:nvPicPr>
        <p:blipFill rotWithShape="1">
          <a:blip r:embed="rId4">
            <a:alphaModFix/>
          </a:blip>
          <a:srcRect/>
          <a:stretch/>
        </p:blipFill>
        <p:spPr>
          <a:xfrm>
            <a:off x="8021428" y="2595115"/>
            <a:ext cx="133350" cy="152400"/>
          </a:xfrm>
          <a:prstGeom prst="rect">
            <a:avLst/>
          </a:prstGeom>
          <a:noFill/>
          <a:ln>
            <a:noFill/>
          </a:ln>
        </p:spPr>
      </p:pic>
      <p:pic>
        <p:nvPicPr>
          <p:cNvPr id="261" name="Google Shape;261;p21" descr="image.png"/>
          <p:cNvPicPr preferRelativeResize="0"/>
          <p:nvPr/>
        </p:nvPicPr>
        <p:blipFill rotWithShape="1">
          <a:blip r:embed="rId5">
            <a:alphaModFix/>
          </a:blip>
          <a:srcRect/>
          <a:stretch/>
        </p:blipFill>
        <p:spPr>
          <a:xfrm>
            <a:off x="8030953" y="2792759"/>
            <a:ext cx="114300" cy="152400"/>
          </a:xfrm>
          <a:prstGeom prst="rect">
            <a:avLst/>
          </a:prstGeom>
          <a:noFill/>
          <a:ln>
            <a:noFill/>
          </a:ln>
        </p:spPr>
      </p:pic>
      <p:pic>
        <p:nvPicPr>
          <p:cNvPr id="262" name="Google Shape;262;p21" descr="image.png"/>
          <p:cNvPicPr preferRelativeResize="0"/>
          <p:nvPr/>
        </p:nvPicPr>
        <p:blipFill rotWithShape="1">
          <a:blip r:embed="rId4">
            <a:alphaModFix/>
          </a:blip>
          <a:srcRect/>
          <a:stretch/>
        </p:blipFill>
        <p:spPr>
          <a:xfrm>
            <a:off x="4482933" y="3316609"/>
            <a:ext cx="133350" cy="152400"/>
          </a:xfrm>
          <a:prstGeom prst="rect">
            <a:avLst/>
          </a:prstGeom>
          <a:noFill/>
          <a:ln>
            <a:noFill/>
          </a:ln>
        </p:spPr>
      </p:pic>
      <p:pic>
        <p:nvPicPr>
          <p:cNvPr id="263" name="Google Shape;263;p21" descr="image.png"/>
          <p:cNvPicPr preferRelativeResize="0"/>
          <p:nvPr/>
        </p:nvPicPr>
        <p:blipFill rotWithShape="1">
          <a:blip r:embed="rId4">
            <a:alphaModFix/>
          </a:blip>
          <a:srcRect/>
          <a:stretch/>
        </p:blipFill>
        <p:spPr>
          <a:xfrm>
            <a:off x="8021428" y="3316609"/>
            <a:ext cx="133350" cy="152400"/>
          </a:xfrm>
          <a:prstGeom prst="rect">
            <a:avLst/>
          </a:prstGeom>
          <a:noFill/>
          <a:ln>
            <a:noFill/>
          </a:ln>
        </p:spPr>
      </p:pic>
      <p:pic>
        <p:nvPicPr>
          <p:cNvPr id="265" name="Google Shape;265;p21" descr="image.png"/>
          <p:cNvPicPr preferRelativeResize="0"/>
          <p:nvPr/>
        </p:nvPicPr>
        <p:blipFill rotWithShape="1">
          <a:blip r:embed="rId4">
            <a:alphaModFix/>
          </a:blip>
          <a:srcRect/>
          <a:stretch/>
        </p:blipFill>
        <p:spPr>
          <a:xfrm>
            <a:off x="8021428" y="3927648"/>
            <a:ext cx="133350" cy="152400"/>
          </a:xfrm>
          <a:prstGeom prst="rect">
            <a:avLst/>
          </a:prstGeom>
          <a:noFill/>
          <a:ln>
            <a:noFill/>
          </a:ln>
        </p:spPr>
      </p:pic>
      <p:pic>
        <p:nvPicPr>
          <p:cNvPr id="266" name="Google Shape;266;p21" descr="image.png"/>
          <p:cNvPicPr preferRelativeResize="0"/>
          <p:nvPr/>
        </p:nvPicPr>
        <p:blipFill rotWithShape="1">
          <a:blip r:embed="rId5">
            <a:alphaModFix/>
          </a:blip>
          <a:srcRect/>
          <a:stretch/>
        </p:blipFill>
        <p:spPr>
          <a:xfrm>
            <a:off x="4482933" y="4571106"/>
            <a:ext cx="114300" cy="152400"/>
          </a:xfrm>
          <a:prstGeom prst="rect">
            <a:avLst/>
          </a:prstGeom>
          <a:noFill/>
          <a:ln>
            <a:noFill/>
          </a:ln>
        </p:spPr>
      </p:pic>
      <p:pic>
        <p:nvPicPr>
          <p:cNvPr id="267" name="Google Shape;267;p21" descr="image.png"/>
          <p:cNvPicPr preferRelativeResize="0"/>
          <p:nvPr/>
        </p:nvPicPr>
        <p:blipFill rotWithShape="1">
          <a:blip r:embed="rId4">
            <a:alphaModFix/>
          </a:blip>
          <a:srcRect/>
          <a:stretch/>
        </p:blipFill>
        <p:spPr>
          <a:xfrm>
            <a:off x="8042179" y="4595365"/>
            <a:ext cx="133350" cy="152400"/>
          </a:xfrm>
          <a:prstGeom prst="rect">
            <a:avLst/>
          </a:prstGeom>
          <a:noFill/>
          <a:ln>
            <a:noFill/>
          </a:ln>
        </p:spPr>
      </p:pic>
      <p:sp>
        <p:nvSpPr>
          <p:cNvPr id="268" name="Google Shape;268;p21"/>
          <p:cNvSpPr txBox="1"/>
          <p:nvPr/>
        </p:nvSpPr>
        <p:spPr>
          <a:xfrm>
            <a:off x="571500" y="571500"/>
            <a:ext cx="1160145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38BDF8"/>
                </a:solidFill>
                <a:latin typeface="Outfit SemiBold"/>
                <a:ea typeface="Outfit SemiBold"/>
                <a:cs typeface="Outfit SemiBold"/>
                <a:sym typeface="Outfit SemiBold"/>
              </a:rPr>
              <a:t>Güvenlik ve Yetkilendirme Tasarımı</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72"/>
        <p:cNvGrpSpPr/>
        <p:nvPr/>
      </p:nvGrpSpPr>
      <p:grpSpPr>
        <a:xfrm>
          <a:off x="0" y="0"/>
          <a:ext cx="0" cy="0"/>
          <a:chOff x="0" y="0"/>
          <a:chExt cx="0" cy="0"/>
        </a:xfrm>
      </p:grpSpPr>
      <p:pic>
        <p:nvPicPr>
          <p:cNvPr id="273" name="Google Shape;273;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4" name="Google Shape;274;p22"/>
          <p:cNvSpPr txBox="1"/>
          <p:nvPr/>
        </p:nvSpPr>
        <p:spPr>
          <a:xfrm>
            <a:off x="571499" y="571500"/>
            <a:ext cx="5200651" cy="9694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38BDF8"/>
                </a:solidFill>
                <a:latin typeface="Outfit SemiBold"/>
                <a:ea typeface="Outfit SemiBold"/>
                <a:cs typeface="Outfit SemiBold"/>
                <a:sym typeface="Outfit SemiBold"/>
              </a:rPr>
              <a:t>Veri </a:t>
            </a:r>
            <a:r>
              <a:rPr lang="en-US" sz="3150" b="0" i="0" u="none" strike="noStrike" cap="none" dirty="0" err="1">
                <a:solidFill>
                  <a:srgbClr val="38BDF8"/>
                </a:solidFill>
                <a:latin typeface="Outfit SemiBold"/>
                <a:ea typeface="Outfit SemiBold"/>
                <a:cs typeface="Outfit SemiBold"/>
                <a:sym typeface="Outfit SemiBold"/>
              </a:rPr>
              <a:t>Ambarı</a:t>
            </a:r>
            <a:r>
              <a:rPr lang="en-US" sz="3150" b="0" i="0" u="none" strike="noStrike" cap="none" dirty="0">
                <a:solidFill>
                  <a:srgbClr val="38BDF8"/>
                </a:solidFill>
                <a:latin typeface="Outfit SemiBold"/>
                <a:ea typeface="Outfit SemiBold"/>
                <a:cs typeface="Outfit SemiBold"/>
                <a:sym typeface="Outfit SemiBold"/>
              </a:rPr>
              <a:t> </a:t>
            </a:r>
            <a:r>
              <a:rPr lang="en-US" sz="3150" b="0" i="0" u="none" strike="noStrike" cap="none" dirty="0" err="1">
                <a:solidFill>
                  <a:srgbClr val="38BDF8"/>
                </a:solidFill>
                <a:latin typeface="Outfit SemiBold"/>
                <a:ea typeface="Outfit SemiBold"/>
                <a:cs typeface="Outfit SemiBold"/>
                <a:sym typeface="Outfit SemiBold"/>
              </a:rPr>
              <a:t>ve</a:t>
            </a:r>
            <a:r>
              <a:rPr lang="en-US" sz="3150" b="0" i="0" u="none" strike="noStrike" cap="none" dirty="0">
                <a:solidFill>
                  <a:srgbClr val="38BDF8"/>
                </a:solidFill>
                <a:latin typeface="Outfit SemiBold"/>
                <a:ea typeface="Outfit SemiBold"/>
                <a:cs typeface="Outfit SemiBold"/>
                <a:sym typeface="Outfit SemiBold"/>
              </a:rPr>
              <a:t> OLAP </a:t>
            </a:r>
            <a:r>
              <a:rPr lang="en-US" sz="3150" b="0" i="0" u="none" strike="noStrike" cap="none" dirty="0" err="1">
                <a:solidFill>
                  <a:srgbClr val="38BDF8"/>
                </a:solidFill>
                <a:latin typeface="Outfit SemiBold"/>
                <a:ea typeface="Outfit SemiBold"/>
                <a:cs typeface="Outfit SemiBold"/>
                <a:sym typeface="Outfit SemiBold"/>
              </a:rPr>
              <a:t>Sorguları</a:t>
            </a:r>
            <a:endParaRPr dirty="0"/>
          </a:p>
        </p:txBody>
      </p:sp>
      <p:sp>
        <p:nvSpPr>
          <p:cNvPr id="276" name="Google Shape;276;p22"/>
          <p:cNvSpPr txBox="1"/>
          <p:nvPr/>
        </p:nvSpPr>
        <p:spPr>
          <a:xfrm>
            <a:off x="498988" y="1846254"/>
            <a:ext cx="5200650"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a:solidFill>
                  <a:srgbClr val="E0F2FE"/>
                </a:solidFill>
                <a:latin typeface="Outfit SemiBold"/>
                <a:ea typeface="Outfit SemiBold"/>
                <a:cs typeface="Outfit SemiBold"/>
                <a:sym typeface="Outfit SemiBold"/>
              </a:rPr>
              <a:t>Yıldız </a:t>
            </a:r>
            <a:r>
              <a:rPr lang="en-US" sz="2100" b="0" i="0" u="none" strike="noStrike" cap="none" dirty="0" err="1">
                <a:solidFill>
                  <a:srgbClr val="E0F2FE"/>
                </a:solidFill>
                <a:latin typeface="Outfit SemiBold"/>
                <a:ea typeface="Outfit SemiBold"/>
                <a:cs typeface="Outfit SemiBold"/>
                <a:sym typeface="Outfit SemiBold"/>
              </a:rPr>
              <a:t>Şema</a:t>
            </a:r>
            <a:r>
              <a:rPr lang="en-US" sz="2100" b="0" i="0" u="none" strike="noStrike" cap="none" dirty="0">
                <a:solidFill>
                  <a:srgbClr val="E0F2FE"/>
                </a:solidFill>
                <a:latin typeface="Outfit SemiBold"/>
                <a:ea typeface="Outfit SemiBold"/>
                <a:cs typeface="Outfit SemiBold"/>
                <a:sym typeface="Outfit SemiBold"/>
              </a:rPr>
              <a:t> (Star Schema) </a:t>
            </a:r>
            <a:r>
              <a:rPr lang="en-US" sz="2100" b="0" i="0" u="none" strike="noStrike" cap="none" dirty="0" err="1">
                <a:solidFill>
                  <a:srgbClr val="E0F2FE"/>
                </a:solidFill>
                <a:latin typeface="Outfit SemiBold"/>
                <a:ea typeface="Outfit SemiBold"/>
                <a:cs typeface="Outfit SemiBold"/>
                <a:sym typeface="Outfit SemiBold"/>
              </a:rPr>
              <a:t>Analitiği</a:t>
            </a:r>
            <a:endParaRPr dirty="0"/>
          </a:p>
        </p:txBody>
      </p:sp>
      <p:sp>
        <p:nvSpPr>
          <p:cNvPr id="277" name="Google Shape;277;p22"/>
          <p:cNvSpPr txBox="1"/>
          <p:nvPr/>
        </p:nvSpPr>
        <p:spPr>
          <a:xfrm>
            <a:off x="472107" y="2470415"/>
            <a:ext cx="4239041"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Outfit"/>
                <a:ea typeface="Outfit"/>
                <a:cs typeface="Outfit"/>
                <a:sym typeface="Outfit"/>
              </a:rPr>
              <a:t>Veri </a:t>
            </a:r>
            <a:r>
              <a:rPr lang="en-US" sz="1500" b="0" i="0" u="none" strike="noStrike" cap="none" dirty="0" err="1">
                <a:solidFill>
                  <a:schemeClr val="bg1"/>
                </a:solidFill>
                <a:latin typeface="Outfit"/>
                <a:ea typeface="Outfit"/>
                <a:cs typeface="Outfit"/>
                <a:sym typeface="Outfit"/>
              </a:rPr>
              <a:t>ambarı</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katmanı</a:t>
            </a:r>
            <a:r>
              <a:rPr lang="en-US" sz="1500" b="0" i="0" u="none" strike="noStrike" cap="none" dirty="0">
                <a:solidFill>
                  <a:schemeClr val="bg1"/>
                </a:solidFill>
                <a:latin typeface="Outfit"/>
                <a:ea typeface="Outfit"/>
                <a:cs typeface="Outfit"/>
                <a:sym typeface="Outfit"/>
              </a:rPr>
              <a:t> Yıldız </a:t>
            </a:r>
            <a:r>
              <a:rPr lang="en-US" sz="1500" b="0" i="0" u="none" strike="noStrike" cap="none" dirty="0" err="1">
                <a:solidFill>
                  <a:schemeClr val="bg1"/>
                </a:solidFill>
                <a:latin typeface="Outfit"/>
                <a:ea typeface="Outfit"/>
                <a:cs typeface="Outfit"/>
                <a:sym typeface="Outfit"/>
              </a:rPr>
              <a:t>Şema</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yapısı</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üzerine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kurulmuştur</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Merkezde</a:t>
            </a:r>
            <a:r>
              <a:rPr lang="en-US" sz="1500" b="0"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Fact_Islem</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olgu</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tablosu</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yer</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alır</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ve</a:t>
            </a:r>
            <a:r>
              <a:rPr lang="en-US" sz="1500" b="0"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Müşteri</a:t>
            </a:r>
            <a:r>
              <a:rPr lang="en-US" sz="1500" b="1"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Hesap</a:t>
            </a:r>
            <a:r>
              <a:rPr lang="en-US" sz="1500" b="1" i="0" u="none" strike="noStrike" cap="none" dirty="0">
                <a:solidFill>
                  <a:schemeClr val="bg1"/>
                </a:solidFill>
                <a:latin typeface="Outfit"/>
                <a:ea typeface="Outfit"/>
                <a:cs typeface="Outfit"/>
                <a:sym typeface="Outfit"/>
              </a:rPr>
              <a:t> </a:t>
            </a:r>
            <a:r>
              <a:rPr lang="en-US" sz="1500" b="1" i="0" u="none" strike="noStrike" cap="none" dirty="0" err="1">
                <a:solidFill>
                  <a:schemeClr val="bg1"/>
                </a:solidFill>
                <a:latin typeface="Outfit"/>
                <a:ea typeface="Outfit"/>
                <a:cs typeface="Outfit"/>
                <a:sym typeface="Outfit"/>
              </a:rPr>
              <a:t>ve</a:t>
            </a:r>
            <a:r>
              <a:rPr lang="en-US" sz="1500" b="1" i="0" u="none" strike="noStrike" cap="none" dirty="0">
                <a:solidFill>
                  <a:schemeClr val="bg1"/>
                </a:solidFill>
                <a:latin typeface="Outfit"/>
                <a:ea typeface="Outfit"/>
                <a:cs typeface="Outfit"/>
                <a:sym typeface="Outfit"/>
              </a:rPr>
              <a:t> Tarih</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boyut</a:t>
            </a:r>
            <a:r>
              <a:rPr lang="en-US" sz="1500" b="0" i="0" u="none" strike="noStrike" cap="none" dirty="0">
                <a:solidFill>
                  <a:schemeClr val="bg1"/>
                </a:solidFill>
                <a:latin typeface="Outfit"/>
                <a:ea typeface="Outfit"/>
                <a:cs typeface="Outfit"/>
                <a:sym typeface="Outfit"/>
              </a:rPr>
              <a:t> (Dimension) </a:t>
            </a:r>
            <a:r>
              <a:rPr lang="en-US" sz="1500" b="0" i="0" u="none" strike="noStrike" cap="none" dirty="0" err="1">
                <a:solidFill>
                  <a:schemeClr val="bg1"/>
                </a:solidFill>
                <a:latin typeface="Outfit"/>
                <a:ea typeface="Outfit"/>
                <a:cs typeface="Outfit"/>
                <a:sym typeface="Outfit"/>
              </a:rPr>
              <a:t>tablolarıyla</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beslenir</a:t>
            </a:r>
            <a:r>
              <a:rPr lang="en-US" sz="1500" b="0" i="0" u="none" strike="noStrike" cap="none" dirty="0">
                <a:solidFill>
                  <a:schemeClr val="bg1"/>
                </a:solidFill>
                <a:latin typeface="Outfit"/>
                <a:ea typeface="Outfit"/>
                <a:cs typeface="Outfit"/>
                <a:sym typeface="Outfit"/>
              </a:rPr>
              <a:t>.</a:t>
            </a:r>
            <a:endParaRPr sz="1500" dirty="0">
              <a:solidFill>
                <a:schemeClr val="bg1"/>
              </a:solidFill>
            </a:endParaRPr>
          </a:p>
        </p:txBody>
      </p:sp>
      <p:sp>
        <p:nvSpPr>
          <p:cNvPr id="278" name="Google Shape;278;p22"/>
          <p:cNvSpPr txBox="1"/>
          <p:nvPr/>
        </p:nvSpPr>
        <p:spPr>
          <a:xfrm>
            <a:off x="472107" y="4202380"/>
            <a:ext cx="4239041"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Outfit"/>
                <a:ea typeface="Outfit"/>
                <a:cs typeface="Outfit"/>
                <a:sym typeface="Outfit"/>
              </a:rPr>
              <a:t>ETL </a:t>
            </a:r>
            <a:r>
              <a:rPr lang="en-US" sz="1500" b="0" i="0" u="none" strike="noStrike" cap="none" dirty="0" err="1">
                <a:solidFill>
                  <a:schemeClr val="bg1"/>
                </a:solidFill>
                <a:latin typeface="Outfit"/>
                <a:ea typeface="Outfit"/>
                <a:cs typeface="Outfit"/>
                <a:sym typeface="Outfit"/>
              </a:rPr>
              <a:t>süreci</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ile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aktarılan</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veriler</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üzerinde</a:t>
            </a:r>
            <a:r>
              <a:rPr lang="en-US" sz="1500" b="0" i="0" u="none" strike="noStrike" cap="none" dirty="0">
                <a:solidFill>
                  <a:schemeClr val="bg1"/>
                </a:solidFill>
                <a:latin typeface="Outfit"/>
                <a:ea typeface="Outfit"/>
                <a:cs typeface="Outfit"/>
                <a:sym typeface="Outfit"/>
              </a:rPr>
              <a:t>, SQL </a:t>
            </a:r>
            <a:r>
              <a:rPr lang="en-US" sz="1500" b="1" i="0" u="none" strike="noStrike" cap="none" dirty="0">
                <a:solidFill>
                  <a:schemeClr val="bg1"/>
                </a:solidFill>
                <a:latin typeface="Outfit"/>
                <a:ea typeface="Outfit"/>
                <a:cs typeface="Outfit"/>
                <a:sym typeface="Outfit"/>
              </a:rPr>
              <a:t>CUBE </a:t>
            </a:r>
            <a:r>
              <a:rPr lang="en-US" sz="1500" b="1" i="0" u="none" strike="noStrike" cap="none" dirty="0" err="1">
                <a:solidFill>
                  <a:schemeClr val="bg1"/>
                </a:solidFill>
                <a:latin typeface="Outfit"/>
                <a:ea typeface="Outfit"/>
                <a:cs typeface="Outfit"/>
                <a:sym typeface="Outfit"/>
              </a:rPr>
              <a:t>ve</a:t>
            </a:r>
            <a:r>
              <a:rPr lang="en-US" sz="1500" b="1" i="0" u="none" strike="noStrike" cap="none" dirty="0">
                <a:solidFill>
                  <a:schemeClr val="bg1"/>
                </a:solidFill>
                <a:latin typeface="Outfit"/>
                <a:ea typeface="Outfit"/>
                <a:cs typeface="Outfit"/>
                <a:sym typeface="Outfit"/>
              </a:rPr>
              <a:t> ROLLUP</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fonksiyonları</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kullanılarak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çapraz</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analizler</a:t>
            </a:r>
            <a:r>
              <a:rPr lang="en-US" sz="1500" b="0" i="0" u="none" strike="noStrike" cap="none" dirty="0">
                <a:solidFill>
                  <a:schemeClr val="bg1"/>
                </a:solidFill>
                <a:latin typeface="Outfit"/>
                <a:ea typeface="Outfit"/>
                <a:cs typeface="Outfit"/>
                <a:sym typeface="Outfit"/>
              </a:rPr>
              <a:t>, zaman </a:t>
            </a:r>
            <a:r>
              <a:rPr lang="en-US" sz="1500" b="0" i="0" u="none" strike="noStrike" cap="none" dirty="0" err="1">
                <a:solidFill>
                  <a:schemeClr val="bg1"/>
                </a:solidFill>
                <a:latin typeface="Outfit"/>
                <a:ea typeface="Outfit"/>
                <a:cs typeface="Outfit"/>
                <a:sym typeface="Outfit"/>
              </a:rPr>
              <a:t>ve</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hesap</a:t>
            </a:r>
            <a:r>
              <a:rPr lang="en-US" sz="1500" b="0" i="0" u="none" strike="noStrike" cap="none" dirty="0">
                <a:solidFill>
                  <a:schemeClr val="bg1"/>
                </a:solidFill>
                <a:latin typeface="Outfit"/>
                <a:ea typeface="Outfit"/>
                <a:cs typeface="Outfit"/>
                <a:sym typeface="Outfit"/>
              </a:rPr>
              <a:t> tipi </a:t>
            </a:r>
            <a:r>
              <a:rPr lang="en-US" sz="1500" b="0" i="0" u="none" strike="noStrike" cap="none" dirty="0" err="1">
                <a:solidFill>
                  <a:schemeClr val="bg1"/>
                </a:solidFill>
                <a:latin typeface="Outfit"/>
                <a:ea typeface="Outfit"/>
                <a:cs typeface="Outfit"/>
                <a:sym typeface="Outfit"/>
              </a:rPr>
              <a:t>bazlı</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toplam</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ciro</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raporlamaları</a:t>
            </a:r>
            <a:r>
              <a:rPr lang="tr-TR" sz="1500"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yüksek</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performansla</a:t>
            </a:r>
            <a:r>
              <a:rPr lang="en-US" sz="1500" b="0" i="0" u="none" strike="noStrike" cap="none" dirty="0">
                <a:solidFill>
                  <a:schemeClr val="bg1"/>
                </a:solidFill>
                <a:latin typeface="Outfit"/>
                <a:ea typeface="Outfit"/>
                <a:cs typeface="Outfit"/>
                <a:sym typeface="Outfit"/>
              </a:rPr>
              <a:t> </a:t>
            </a:r>
            <a:r>
              <a:rPr lang="en-US" sz="1500" b="0" i="0" u="none" strike="noStrike" cap="none" dirty="0" err="1">
                <a:solidFill>
                  <a:schemeClr val="bg1"/>
                </a:solidFill>
                <a:latin typeface="Outfit"/>
                <a:ea typeface="Outfit"/>
                <a:cs typeface="Outfit"/>
                <a:sym typeface="Outfit"/>
              </a:rPr>
              <a:t>üretilir</a:t>
            </a:r>
            <a:r>
              <a:rPr lang="en-US" sz="1500" b="0" i="0" u="none" strike="noStrike" cap="none" dirty="0">
                <a:solidFill>
                  <a:schemeClr val="bg1"/>
                </a:solidFill>
                <a:latin typeface="Outfit"/>
                <a:ea typeface="Outfit"/>
                <a:cs typeface="Outfit"/>
                <a:sym typeface="Outfit"/>
              </a:rPr>
              <a:t>.</a:t>
            </a:r>
            <a:endParaRPr sz="1500" dirty="0">
              <a:solidFill>
                <a:schemeClr val="bg1"/>
              </a:solidFill>
            </a:endParaRPr>
          </a:p>
        </p:txBody>
      </p:sp>
      <p:pic>
        <p:nvPicPr>
          <p:cNvPr id="3" name="Picture 2">
            <a:extLst>
              <a:ext uri="{FF2B5EF4-FFF2-40B4-BE49-F238E27FC236}">
                <a16:creationId xmlns:a16="http://schemas.microsoft.com/office/drawing/2014/main" id="{06A15E2F-CA77-DB26-5524-DBE1404A591E}"/>
              </a:ext>
            </a:extLst>
          </p:cNvPr>
          <p:cNvPicPr>
            <a:picLocks noChangeAspect="1"/>
          </p:cNvPicPr>
          <p:nvPr/>
        </p:nvPicPr>
        <p:blipFill>
          <a:blip r:embed="rId4"/>
          <a:stretch>
            <a:fillRect/>
          </a:stretch>
        </p:blipFill>
        <p:spPr>
          <a:xfrm>
            <a:off x="5162420" y="1471093"/>
            <a:ext cx="6780501" cy="37469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2"/>
        <p:cNvGrpSpPr/>
        <p:nvPr/>
      </p:nvGrpSpPr>
      <p:grpSpPr>
        <a:xfrm>
          <a:off x="0" y="0"/>
          <a:ext cx="0" cy="0"/>
          <a:chOff x="0" y="0"/>
          <a:chExt cx="0" cy="0"/>
        </a:xfrm>
      </p:grpSpPr>
      <p:pic>
        <p:nvPicPr>
          <p:cNvPr id="283" name="Google Shape;283;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84" name="Google Shape;284;p23"/>
          <p:cNvSpPr txBox="1"/>
          <p:nvPr/>
        </p:nvSpPr>
        <p:spPr>
          <a:xfrm>
            <a:off x="1626704" y="1820539"/>
            <a:ext cx="9307996" cy="269304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00" b="0" i="1" u="none" strike="noStrike" cap="none" dirty="0">
                <a:solidFill>
                  <a:srgbClr val="F8FAFC"/>
                </a:solidFill>
                <a:latin typeface="Outfit"/>
                <a:ea typeface="Outfit"/>
                <a:cs typeface="Outfit"/>
                <a:sym typeface="Outfit"/>
              </a:rPr>
              <a:t> </a:t>
            </a:r>
            <a:endParaRPr lang="tr-TR" sz="1000" i="1" dirty="0">
              <a:solidFill>
                <a:srgbClr val="F8FAFC"/>
              </a:solidFill>
              <a:latin typeface="Outfit"/>
              <a:sym typeface="Outfit"/>
            </a:endParaRPr>
          </a:p>
          <a:p>
            <a:r>
              <a:rPr lang="tr-TR" sz="1600" dirty="0">
                <a:solidFill>
                  <a:schemeClr val="bg1"/>
                </a:solidFill>
                <a:latin typeface="Outfit" panose="020B0604020202020204" charset="0"/>
              </a:rPr>
              <a:t>FintechDB projesinde eşzamanlılık yönetimi için SQL Server'ın varsayılanı olan </a:t>
            </a:r>
            <a:r>
              <a:rPr lang="tr-TR" sz="1600" b="1" dirty="0">
                <a:solidFill>
                  <a:schemeClr val="bg1"/>
                </a:solidFill>
                <a:latin typeface="Outfit" panose="020B0604020202020204" charset="0"/>
              </a:rPr>
              <a:t>READ COMMITTED</a:t>
            </a:r>
            <a:r>
              <a:rPr lang="tr-TR" sz="1600" dirty="0">
                <a:solidFill>
                  <a:schemeClr val="bg1"/>
                </a:solidFill>
                <a:latin typeface="Outfit" panose="020B0604020202020204" charset="0"/>
              </a:rPr>
              <a:t> izolasyon seviyesi tercih edilmiştir. Bu seviye sayesinde bankacılık sistemlerindeki en büyük risklerden olan "kirli okumalar" (</a:t>
            </a:r>
            <a:r>
              <a:rPr lang="tr-TR" sz="1600" dirty="0" err="1">
                <a:solidFill>
                  <a:schemeClr val="bg1"/>
                </a:solidFill>
                <a:latin typeface="Outfit" panose="020B0604020202020204" charset="0"/>
              </a:rPr>
              <a:t>dirty</a:t>
            </a:r>
            <a:r>
              <a:rPr lang="tr-TR" sz="1600" dirty="0">
                <a:solidFill>
                  <a:schemeClr val="bg1"/>
                </a:solidFill>
                <a:latin typeface="Outfit" panose="020B0604020202020204" charset="0"/>
              </a:rPr>
              <a:t> </a:t>
            </a:r>
            <a:r>
              <a:rPr lang="tr-TR" sz="1600" dirty="0" err="1">
                <a:solidFill>
                  <a:schemeClr val="bg1"/>
                </a:solidFill>
                <a:latin typeface="Outfit" panose="020B0604020202020204" charset="0"/>
              </a:rPr>
              <a:t>read</a:t>
            </a:r>
            <a:r>
              <a:rPr lang="tr-TR" sz="1600" dirty="0">
                <a:solidFill>
                  <a:schemeClr val="bg1"/>
                </a:solidFill>
                <a:latin typeface="Outfit" panose="020B0604020202020204" charset="0"/>
              </a:rPr>
              <a:t> - henüz tamamlanmamış işlemlerin başkası tarafından okunması) kesin olarak engellenirken, daha katı seviyelerin (örn. SERIALIZABLE) yol açabileceği sistem kilitlenmelerinin (</a:t>
            </a:r>
            <a:r>
              <a:rPr lang="tr-TR" sz="1600" dirty="0" err="1">
                <a:solidFill>
                  <a:schemeClr val="bg1"/>
                </a:solidFill>
                <a:latin typeface="Outfit" panose="020B0604020202020204" charset="0"/>
              </a:rPr>
              <a:t>deadlock</a:t>
            </a:r>
            <a:r>
              <a:rPr lang="tr-TR" sz="1600" dirty="0">
                <a:solidFill>
                  <a:schemeClr val="bg1"/>
                </a:solidFill>
                <a:latin typeface="Outfit" panose="020B0604020202020204" charset="0"/>
              </a:rPr>
              <a:t>) ve performans kayıplarının önüne geçilmiştir.</a:t>
            </a:r>
          </a:p>
          <a:p>
            <a:endParaRPr lang="tr-TR" sz="1600" dirty="0">
              <a:solidFill>
                <a:schemeClr val="bg1"/>
              </a:solidFill>
              <a:latin typeface="Outfit" panose="020B0604020202020204" charset="0"/>
            </a:endParaRPr>
          </a:p>
          <a:p>
            <a:r>
              <a:rPr lang="tr-TR" sz="1600" dirty="0">
                <a:solidFill>
                  <a:schemeClr val="bg1"/>
                </a:solidFill>
                <a:latin typeface="Outfit" panose="020B0604020202020204" charset="0"/>
              </a:rPr>
              <a:t>Ek olarak; para transferi ve kredi kullandırım işlemleri gibi birden fazla tablonun eş zamanlı güncellendiği kritik bankacılık süreçleri, veri bütünlüğünü korumak amacıyla BEGIN TRANSACTION, COMMIT ve ROLLBACK blokları içerisinde atomik olarak yönetilmiştir. Olası donanımsal veya mantıksal hatalara karşı ise TRY-CATCH yapıları kullanılarak hata kontrolü ve işlem güvenliği sağlanmıştır. </a:t>
            </a:r>
            <a:endParaRPr lang="tr-TR" sz="1000" i="1" dirty="0">
              <a:solidFill>
                <a:srgbClr val="F8FAFC"/>
              </a:solidFill>
              <a:latin typeface="Outfit"/>
              <a:sym typeface="Outfit"/>
            </a:endParaRPr>
          </a:p>
        </p:txBody>
      </p:sp>
      <p:sp>
        <p:nvSpPr>
          <p:cNvPr id="286" name="Google Shape;286;p23"/>
          <p:cNvSpPr txBox="1"/>
          <p:nvPr/>
        </p:nvSpPr>
        <p:spPr>
          <a:xfrm>
            <a:off x="952500" y="2205037"/>
            <a:ext cx="304800" cy="962025"/>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6000" b="0" i="1" u="none" strike="noStrike" cap="none">
                <a:solidFill>
                  <a:srgbClr val="38BDF8"/>
                </a:solidFill>
                <a:latin typeface="Outfit"/>
                <a:ea typeface="Outfit"/>
                <a:cs typeface="Outfit"/>
                <a:sym typeface="Outfit"/>
              </a:rPr>
              <a:t>"</a:t>
            </a:r>
            <a:endParaRPr/>
          </a:p>
        </p:txBody>
      </p:sp>
      <p:sp>
        <p:nvSpPr>
          <p:cNvPr id="287" name="Google Shape;287;p23"/>
          <p:cNvSpPr txBox="1"/>
          <p:nvPr/>
        </p:nvSpPr>
        <p:spPr>
          <a:xfrm>
            <a:off x="10934700" y="5157787"/>
            <a:ext cx="304800" cy="962025"/>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6000" b="0" i="1" u="none" strike="noStrike" cap="none">
                <a:solidFill>
                  <a:srgbClr val="38BDF8"/>
                </a:solidFill>
                <a:latin typeface="Outfit"/>
                <a:ea typeface="Outfit"/>
                <a:cs typeface="Outfit"/>
                <a:sym typeface="Outfit"/>
              </a:rPr>
              <a:t>"</a:t>
            </a:r>
            <a:endParaRPr/>
          </a:p>
        </p:txBody>
      </p:sp>
      <p:sp>
        <p:nvSpPr>
          <p:cNvPr id="288" name="Google Shape;288;p23"/>
          <p:cNvSpPr txBox="1"/>
          <p:nvPr/>
        </p:nvSpPr>
        <p:spPr>
          <a:xfrm>
            <a:off x="571500" y="571500"/>
            <a:ext cx="6375952"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err="1">
                <a:solidFill>
                  <a:srgbClr val="38BDF8"/>
                </a:solidFill>
                <a:latin typeface="Outfit SemiBold"/>
                <a:ea typeface="Outfit SemiBold"/>
                <a:cs typeface="Outfit SemiBold"/>
                <a:sym typeface="Outfit SemiBold"/>
              </a:rPr>
              <a:t>İşlem</a:t>
            </a:r>
            <a:r>
              <a:rPr lang="en-US" sz="3150" b="0" i="0" u="none" strike="noStrike" cap="none" dirty="0">
                <a:solidFill>
                  <a:srgbClr val="38BDF8"/>
                </a:solidFill>
                <a:latin typeface="Outfit SemiBold"/>
                <a:ea typeface="Outfit SemiBold"/>
                <a:cs typeface="Outfit SemiBold"/>
                <a:sym typeface="Outfit SemiBold"/>
              </a:rPr>
              <a:t> </a:t>
            </a:r>
            <a:r>
              <a:rPr lang="en-US" sz="3150" b="0" i="0" u="none" strike="noStrike" cap="none" dirty="0" err="1">
                <a:solidFill>
                  <a:srgbClr val="38BDF8"/>
                </a:solidFill>
                <a:latin typeface="Outfit SemiBold"/>
                <a:ea typeface="Outfit SemiBold"/>
                <a:cs typeface="Outfit SemiBold"/>
                <a:sym typeface="Outfit SemiBold"/>
              </a:rPr>
              <a:t>Güvenliği</a:t>
            </a:r>
            <a:r>
              <a:rPr lang="en-US" sz="3150" b="0" i="0" u="none" strike="noStrike" cap="none" dirty="0">
                <a:solidFill>
                  <a:srgbClr val="38BDF8"/>
                </a:solidFill>
                <a:latin typeface="Outfit SemiBold"/>
                <a:ea typeface="Outfit SemiBold"/>
                <a:cs typeface="Outfit SemiBold"/>
                <a:sym typeface="Outfit SemiBold"/>
              </a:rPr>
              <a:t> (ACID </a:t>
            </a:r>
            <a:r>
              <a:rPr lang="en-US" sz="3150" b="0" i="0" u="none" strike="noStrike" cap="none" dirty="0" err="1">
                <a:solidFill>
                  <a:srgbClr val="38BDF8"/>
                </a:solidFill>
                <a:latin typeface="Outfit SemiBold"/>
                <a:ea typeface="Outfit SemiBold"/>
                <a:cs typeface="Outfit SemiBold"/>
                <a:sym typeface="Outfit SemiBold"/>
              </a:rPr>
              <a:t>ve</a:t>
            </a:r>
            <a:r>
              <a:rPr lang="en-US" sz="3150" b="0" i="0" u="none" strike="noStrike" cap="none" dirty="0">
                <a:solidFill>
                  <a:srgbClr val="38BDF8"/>
                </a:solidFill>
                <a:latin typeface="Outfit SemiBold"/>
                <a:ea typeface="Outfit SemiBold"/>
                <a:cs typeface="Outfit SemiBold"/>
                <a:sym typeface="Outfit SemiBold"/>
              </a:rPr>
              <a:t> Isolation)</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9"/>
        <p:cNvGrpSpPr/>
        <p:nvPr/>
      </p:nvGrpSpPr>
      <p:grpSpPr>
        <a:xfrm>
          <a:off x="0" y="0"/>
          <a:ext cx="0" cy="0"/>
          <a:chOff x="0" y="0"/>
          <a:chExt cx="0" cy="0"/>
        </a:xfrm>
      </p:grpSpPr>
      <p:pic>
        <p:nvPicPr>
          <p:cNvPr id="320" name="Google Shape;320;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21" name="Google Shape;321;p26"/>
          <p:cNvSpPr/>
          <p:nvPr/>
        </p:nvSpPr>
        <p:spPr>
          <a:xfrm>
            <a:off x="571500" y="2501354"/>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2" name="Google Shape;322;p26"/>
          <p:cNvSpPr/>
          <p:nvPr/>
        </p:nvSpPr>
        <p:spPr>
          <a:xfrm>
            <a:off x="571500" y="3484215"/>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3" name="Google Shape;323;p26"/>
          <p:cNvSpPr/>
          <p:nvPr/>
        </p:nvSpPr>
        <p:spPr>
          <a:xfrm>
            <a:off x="571500" y="3474690"/>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4" name="Google Shape;324;p26"/>
          <p:cNvSpPr/>
          <p:nvPr/>
        </p:nvSpPr>
        <p:spPr>
          <a:xfrm>
            <a:off x="571500" y="3474690"/>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5" name="Google Shape;325;p26"/>
          <p:cNvSpPr/>
          <p:nvPr/>
        </p:nvSpPr>
        <p:spPr>
          <a:xfrm>
            <a:off x="571500" y="4457551"/>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6" name="Google Shape;326;p26"/>
          <p:cNvSpPr/>
          <p:nvPr/>
        </p:nvSpPr>
        <p:spPr>
          <a:xfrm>
            <a:off x="571500" y="4457551"/>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27" name="Google Shape;327;p26" descr="image.png"/>
          <p:cNvPicPr preferRelativeResize="0"/>
          <p:nvPr/>
        </p:nvPicPr>
        <p:blipFill rotWithShape="1">
          <a:blip r:embed="rId4">
            <a:alphaModFix/>
          </a:blip>
          <a:srcRect/>
          <a:stretch/>
        </p:blipFill>
        <p:spPr>
          <a:xfrm>
            <a:off x="571500" y="2749896"/>
            <a:ext cx="959126" cy="581919"/>
          </a:xfrm>
          <a:prstGeom prst="rect">
            <a:avLst/>
          </a:prstGeom>
          <a:noFill/>
          <a:ln>
            <a:noFill/>
          </a:ln>
        </p:spPr>
      </p:pic>
      <p:sp>
        <p:nvSpPr>
          <p:cNvPr id="328" name="Google Shape;328;p26"/>
          <p:cNvSpPr txBox="1"/>
          <p:nvPr/>
        </p:nvSpPr>
        <p:spPr>
          <a:xfrm>
            <a:off x="1666875" y="2644229"/>
            <a:ext cx="9953625" cy="54168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00" b="0" i="0" u="none" strike="noStrike" cap="none" dirty="0">
                <a:solidFill>
                  <a:srgbClr val="CBD5E1"/>
                </a:solidFill>
                <a:latin typeface="Outfit"/>
                <a:ea typeface="Outfit"/>
                <a:cs typeface="Outfit"/>
                <a:sym typeface="Outfit"/>
              </a:rPr>
              <a:t>https://static.vecteezy.com/system/resources/thumbnails/073/907/207/large/abstract-blockchain-network-concept-glowing-digital-data-blocks-connected-represents-cryptocurrency-decentralized-technology-global-network-modern-finance-data-exchange-video.jpg</a:t>
            </a:r>
            <a:endParaRPr sz="1100" dirty="0"/>
          </a:p>
        </p:txBody>
      </p:sp>
      <p:sp>
        <p:nvSpPr>
          <p:cNvPr id="329" name="Google Shape;329;p26"/>
          <p:cNvSpPr txBox="1"/>
          <p:nvPr/>
        </p:nvSpPr>
        <p:spPr>
          <a:xfrm>
            <a:off x="1666874" y="3124902"/>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CBD5E1"/>
                </a:solidFill>
                <a:latin typeface="Outfit"/>
                <a:ea typeface="Outfit"/>
                <a:cs typeface="Outfit"/>
                <a:sym typeface="Outfit"/>
              </a:rPr>
              <a:t>Source: </a:t>
            </a:r>
            <a:r>
              <a:rPr lang="en-US" sz="1200" b="0" i="0" u="none" strike="noStrike" cap="none" dirty="0">
                <a:solidFill>
                  <a:srgbClr val="4F46E5"/>
                </a:solidFill>
                <a:latin typeface="Outfit"/>
                <a:ea typeface="Outfit"/>
                <a:cs typeface="Outfit"/>
                <a:sym typeface="Outfit"/>
              </a:rPr>
              <a:t>www.vecteezy.com</a:t>
            </a:r>
            <a:endParaRPr dirty="0"/>
          </a:p>
        </p:txBody>
      </p:sp>
      <p:sp>
        <p:nvSpPr>
          <p:cNvPr id="331" name="Google Shape;331;p26"/>
          <p:cNvSpPr txBox="1"/>
          <p:nvPr/>
        </p:nvSpPr>
        <p:spPr>
          <a:xfrm>
            <a:off x="1666875" y="3627090"/>
            <a:ext cx="9953625" cy="54168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00" b="0" i="0" u="none" strike="noStrike" cap="none" dirty="0">
                <a:solidFill>
                  <a:srgbClr val="CBD5E1"/>
                </a:solidFill>
                <a:latin typeface="Outfit"/>
                <a:ea typeface="Outfit"/>
                <a:cs typeface="Outfit"/>
                <a:sym typeface="Outfit"/>
              </a:rPr>
              <a:t>https://static.vecteezy.com/system/resources/thumbnails/026/384/935/small_2x/futuristic-glowing-padlock-with-plexus-lines-and-glitter-particles-a-padlock-in-the-neon-light-style-cyber-security-data-and-privacy-protection-digital-technology-background-vector.jpg</a:t>
            </a:r>
            <a:endParaRPr sz="1100" dirty="0"/>
          </a:p>
        </p:txBody>
      </p:sp>
      <p:sp>
        <p:nvSpPr>
          <p:cNvPr id="332" name="Google Shape;332;p26"/>
          <p:cNvSpPr txBox="1"/>
          <p:nvPr/>
        </p:nvSpPr>
        <p:spPr>
          <a:xfrm>
            <a:off x="1666873" y="4107763"/>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CBD5E1"/>
                </a:solidFill>
                <a:latin typeface="Outfit"/>
                <a:ea typeface="Outfit"/>
                <a:cs typeface="Outfit"/>
                <a:sym typeface="Outfit"/>
              </a:rPr>
              <a:t>Source: </a:t>
            </a:r>
            <a:r>
              <a:rPr lang="en-US" sz="1200" b="0" i="0" u="none" strike="noStrike" cap="none" dirty="0">
                <a:solidFill>
                  <a:srgbClr val="4F46E5"/>
                </a:solidFill>
                <a:latin typeface="Outfit"/>
                <a:ea typeface="Outfit"/>
                <a:cs typeface="Outfit"/>
                <a:sym typeface="Outfit"/>
              </a:rPr>
              <a:t>www.vecteezy.com</a:t>
            </a:r>
            <a:endParaRPr dirty="0"/>
          </a:p>
        </p:txBody>
      </p:sp>
      <p:sp>
        <p:nvSpPr>
          <p:cNvPr id="336" name="Google Shape;336;p26"/>
          <p:cNvSpPr txBox="1"/>
          <p:nvPr/>
        </p:nvSpPr>
        <p:spPr>
          <a:xfrm>
            <a:off x="571500" y="571500"/>
            <a:ext cx="11601450"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tr-TR" sz="3200" dirty="0">
                <a:solidFill>
                  <a:schemeClr val="bg1"/>
                </a:solidFill>
              </a:rPr>
              <a:t>KAYNAKÇA</a:t>
            </a:r>
            <a:endParaRPr sz="3200" dirty="0">
              <a:solidFill>
                <a:schemeClr val="bg1"/>
              </a:solidFill>
            </a:endParaRPr>
          </a:p>
        </p:txBody>
      </p:sp>
      <p:pic>
        <p:nvPicPr>
          <p:cNvPr id="2" name="Google Shape;225;p20" descr="image.png">
            <a:extLst>
              <a:ext uri="{FF2B5EF4-FFF2-40B4-BE49-F238E27FC236}">
                <a16:creationId xmlns:a16="http://schemas.microsoft.com/office/drawing/2014/main" id="{B388EC41-BDAC-422E-F398-AD6B5ACD3F07}"/>
              </a:ext>
            </a:extLst>
          </p:cNvPr>
          <p:cNvPicPr preferRelativeResize="0"/>
          <p:nvPr/>
        </p:nvPicPr>
        <p:blipFill rotWithShape="1">
          <a:blip r:embed="rId5">
            <a:alphaModFix/>
          </a:blip>
          <a:srcRect/>
          <a:stretch/>
        </p:blipFill>
        <p:spPr>
          <a:xfrm>
            <a:off x="571500" y="3561446"/>
            <a:ext cx="857250" cy="83522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1"/>
        <p:cNvGrpSpPr/>
        <p:nvPr/>
      </p:nvGrpSpPr>
      <p:grpSpPr>
        <a:xfrm>
          <a:off x="0" y="0"/>
          <a:ext cx="0" cy="0"/>
          <a:chOff x="0" y="0"/>
          <a:chExt cx="0" cy="0"/>
        </a:xfrm>
      </p:grpSpPr>
      <p:pic>
        <p:nvPicPr>
          <p:cNvPr id="312" name="Google Shape;312;p25" descr="image.png"/>
          <p:cNvPicPr preferRelativeResize="0"/>
          <p:nvPr/>
        </p:nvPicPr>
        <p:blipFill rotWithShape="1">
          <a:blip r:embed="rId3">
            <a:alphaModFix/>
          </a:blip>
          <a:srcRect/>
          <a:stretch/>
        </p:blipFill>
        <p:spPr>
          <a:xfrm>
            <a:off x="-159026" y="38991"/>
            <a:ext cx="12192000" cy="6858000"/>
          </a:xfrm>
          <a:prstGeom prst="rect">
            <a:avLst/>
          </a:prstGeom>
          <a:noFill/>
          <a:ln>
            <a:noFill/>
          </a:ln>
        </p:spPr>
      </p:pic>
      <p:sp>
        <p:nvSpPr>
          <p:cNvPr id="313" name="Google Shape;313;p25"/>
          <p:cNvSpPr txBox="1"/>
          <p:nvPr/>
        </p:nvSpPr>
        <p:spPr>
          <a:xfrm>
            <a:off x="2905601" y="2315467"/>
            <a:ext cx="6380797" cy="962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0" i="0" u="none" strike="noStrike" cap="none">
                <a:solidFill>
                  <a:srgbClr val="38BDF8"/>
                </a:solidFill>
                <a:latin typeface="Outfit SemiBold"/>
                <a:ea typeface="Outfit SemiBold"/>
                <a:cs typeface="Outfit SemiBold"/>
                <a:sym typeface="Outfit SemiBold"/>
              </a:rPr>
              <a:t>Teşekkürler!</a:t>
            </a:r>
            <a:endParaRPr/>
          </a:p>
        </p:txBody>
      </p:sp>
      <p:sp>
        <p:nvSpPr>
          <p:cNvPr id="314" name="Google Shape;314;p25"/>
          <p:cNvSpPr txBox="1"/>
          <p:nvPr/>
        </p:nvSpPr>
        <p:spPr>
          <a:xfrm>
            <a:off x="2774466" y="3580509"/>
            <a:ext cx="6643066" cy="517065"/>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dirty="0">
                <a:solidFill>
                  <a:srgbClr val="CBD5E1"/>
                </a:solidFill>
                <a:latin typeface="Outfit"/>
                <a:ea typeface="Outfit"/>
                <a:cs typeface="Outfit"/>
                <a:sym typeface="Outfit"/>
              </a:rPr>
              <a:t>FintechDB </a:t>
            </a:r>
            <a:r>
              <a:rPr lang="en-US" sz="2100" b="0" i="0" u="none" strike="noStrike" cap="none" dirty="0" err="1">
                <a:solidFill>
                  <a:srgbClr val="CBD5E1"/>
                </a:solidFill>
                <a:latin typeface="Outfit"/>
                <a:ea typeface="Outfit"/>
                <a:cs typeface="Outfit"/>
                <a:sym typeface="Outfit"/>
              </a:rPr>
              <a:t>projemizi</a:t>
            </a:r>
            <a:r>
              <a:rPr lang="en-US" sz="2100" b="0" i="0" u="none" strike="noStrike" cap="none" dirty="0">
                <a:solidFill>
                  <a:srgbClr val="CBD5E1"/>
                </a:solidFill>
                <a:latin typeface="Outfit"/>
                <a:ea typeface="Outfit"/>
                <a:cs typeface="Outfit"/>
                <a:sym typeface="Outfit"/>
              </a:rPr>
              <a:t> </a:t>
            </a:r>
            <a:r>
              <a:rPr lang="en-US" sz="2100" b="0" i="0" u="none" strike="noStrike" cap="none" dirty="0" err="1">
                <a:solidFill>
                  <a:srgbClr val="CBD5E1"/>
                </a:solidFill>
                <a:latin typeface="Outfit"/>
                <a:ea typeface="Outfit"/>
                <a:cs typeface="Outfit"/>
                <a:sym typeface="Outfit"/>
              </a:rPr>
              <a:t>dinlediğiniz</a:t>
            </a:r>
            <a:r>
              <a:rPr lang="en-US" sz="2100" b="0" i="0" u="none" strike="noStrike" cap="none" dirty="0">
                <a:solidFill>
                  <a:srgbClr val="CBD5E1"/>
                </a:solidFill>
                <a:latin typeface="Outfit"/>
                <a:ea typeface="Outfit"/>
                <a:cs typeface="Outfit"/>
                <a:sym typeface="Outfit"/>
              </a:rPr>
              <a:t> </a:t>
            </a:r>
            <a:r>
              <a:rPr lang="en-US" sz="2100" b="0" i="0" u="none" strike="noStrike" cap="none" dirty="0" err="1">
                <a:solidFill>
                  <a:srgbClr val="CBD5E1"/>
                </a:solidFill>
                <a:latin typeface="Outfit"/>
                <a:ea typeface="Outfit"/>
                <a:cs typeface="Outfit"/>
                <a:sym typeface="Outfit"/>
              </a:rPr>
              <a:t>için</a:t>
            </a:r>
            <a:r>
              <a:rPr lang="en-US" sz="2100" b="0" i="0" u="none" strike="noStrike" cap="none" dirty="0">
                <a:solidFill>
                  <a:srgbClr val="CBD5E1"/>
                </a:solidFill>
                <a:latin typeface="Outfit"/>
                <a:ea typeface="Outfit"/>
                <a:cs typeface="Outfit"/>
                <a:sym typeface="Outfit"/>
              </a:rPr>
              <a:t> </a:t>
            </a:r>
            <a:r>
              <a:rPr lang="en-US" sz="2100" b="0" i="0" u="none" strike="noStrike" cap="none" dirty="0" err="1">
                <a:solidFill>
                  <a:srgbClr val="CBD5E1"/>
                </a:solidFill>
                <a:latin typeface="Outfit"/>
                <a:ea typeface="Outfit"/>
                <a:cs typeface="Outfit"/>
                <a:sym typeface="Outfit"/>
              </a:rPr>
              <a:t>teşekkür</a:t>
            </a:r>
            <a:r>
              <a:rPr lang="en-US" sz="2100" b="0" i="0" u="none" strike="noStrike" cap="none" dirty="0">
                <a:solidFill>
                  <a:srgbClr val="CBD5E1"/>
                </a:solidFill>
                <a:latin typeface="Outfit"/>
                <a:ea typeface="Outfit"/>
                <a:cs typeface="Outfit"/>
                <a:sym typeface="Outfit"/>
              </a:rPr>
              <a:t> </a:t>
            </a:r>
            <a:r>
              <a:rPr lang="en-US" sz="2100" b="0" i="0" u="none" strike="noStrike" cap="none" dirty="0" err="1">
                <a:solidFill>
                  <a:srgbClr val="CBD5E1"/>
                </a:solidFill>
                <a:latin typeface="Outfit"/>
                <a:ea typeface="Outfit"/>
                <a:cs typeface="Outfit"/>
                <a:sym typeface="Outfit"/>
              </a:rPr>
              <a:t>ederiz</a:t>
            </a:r>
            <a:r>
              <a:rPr lang="en-US" sz="2100" b="0" i="0" u="none" strike="noStrike" cap="none" dirty="0">
                <a:solidFill>
                  <a:srgbClr val="CBD5E1"/>
                </a:solidFill>
                <a:latin typeface="Outfit"/>
                <a:ea typeface="Outfit"/>
                <a:cs typeface="Outfit"/>
                <a:sym typeface="Outfit"/>
              </a:rPr>
              <a:t>.</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1027</Words>
  <Application>Microsoft Office PowerPoint</Application>
  <PresentationFormat>Widescreen</PresentationFormat>
  <Paragraphs>105</Paragraphs>
  <Slides>13</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Georgia</vt:lpstr>
      <vt:lpstr>Arial</vt:lpstr>
      <vt:lpstr>Calibri</vt:lpstr>
      <vt:lpstr>Outfit</vt:lpstr>
      <vt:lpstr>Outfit SemiBold</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Metehan Şener</cp:lastModifiedBy>
  <cp:revision>3</cp:revision>
  <dcterms:modified xsi:type="dcterms:W3CDTF">2026-05-29T18:38:50Z</dcterms:modified>
</cp:coreProperties>
</file>